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" charset="1" panose="00000500000000000000"/>
      <p:regular r:id="rId18"/>
    </p:embeddedFont>
    <p:embeddedFont>
      <p:font typeface="Open Sauce Semi-Bold" charset="1" panose="00000700000000000000"/>
      <p:regular r:id="rId19"/>
    </p:embeddedFont>
    <p:embeddedFont>
      <p:font typeface="Open Sauce Bold" charset="1" panose="00000800000000000000"/>
      <p:regular r:id="rId20"/>
    </p:embeddedFon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2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3.jpe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762" y="2577008"/>
            <a:ext cx="6366634" cy="123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9"/>
              </a:lnSpc>
            </a:pPr>
            <a:r>
              <a:rPr lang="en-US" sz="8777" spc="-517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PITTYSOFT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742603" y="-4316939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7238" y="157256"/>
            <a:ext cx="4689739" cy="1154116"/>
          </a:xfrm>
          <a:custGeom>
            <a:avLst/>
            <a:gdLst/>
            <a:ahLst/>
            <a:cxnLst/>
            <a:rect r="r" b="b" t="t" l="l"/>
            <a:pathLst>
              <a:path h="1154116" w="4689739">
                <a:moveTo>
                  <a:pt x="0" y="0"/>
                </a:moveTo>
                <a:lnTo>
                  <a:pt x="4689739" y="0"/>
                </a:lnTo>
                <a:lnTo>
                  <a:pt x="4689739" y="1154115"/>
                </a:lnTo>
                <a:lnTo>
                  <a:pt x="0" y="1154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3638">
            <a:off x="12192809" y="2994188"/>
            <a:ext cx="4802933" cy="4298625"/>
          </a:xfrm>
          <a:custGeom>
            <a:avLst/>
            <a:gdLst/>
            <a:ahLst/>
            <a:cxnLst/>
            <a:rect r="r" b="b" t="t" l="l"/>
            <a:pathLst>
              <a:path h="4298625" w="4802933">
                <a:moveTo>
                  <a:pt x="0" y="0"/>
                </a:moveTo>
                <a:lnTo>
                  <a:pt x="4802932" y="0"/>
                </a:lnTo>
                <a:lnTo>
                  <a:pt x="4802932" y="4298624"/>
                </a:lnTo>
                <a:lnTo>
                  <a:pt x="0" y="429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5762" y="3892022"/>
            <a:ext cx="10443484" cy="96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6870" spc="-405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PROYECTO APT – FASE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5762" y="7914024"/>
            <a:ext cx="4159277" cy="181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Integrantes:</a:t>
            </a:r>
          </a:p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Axel Blanlot</a:t>
            </a:r>
          </a:p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Gabriel Bermar</a:t>
            </a:r>
          </a:p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Sebastian Quezada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57414" y="9160465"/>
            <a:ext cx="5430202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Docente: Mallen Gonzalez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57414" y="9658433"/>
            <a:ext cx="6312373" cy="46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spc="-118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Carrera: Ingeniería en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78811" y="3568254"/>
            <a:ext cx="3169225" cy="3267242"/>
          </a:xfrm>
          <a:custGeom>
            <a:avLst/>
            <a:gdLst/>
            <a:ahLst/>
            <a:cxnLst/>
            <a:rect r="r" b="b" t="t" l="l"/>
            <a:pathLst>
              <a:path h="3267242" w="3169225">
                <a:moveTo>
                  <a:pt x="0" y="0"/>
                </a:moveTo>
                <a:lnTo>
                  <a:pt x="3169225" y="0"/>
                </a:lnTo>
                <a:lnTo>
                  <a:pt x="3169225" y="3267242"/>
                </a:lnTo>
                <a:lnTo>
                  <a:pt x="0" y="326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54315" y="675574"/>
            <a:ext cx="2779371" cy="76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3"/>
              </a:lnSpc>
              <a:spcBef>
                <a:spcPct val="0"/>
              </a:spcBef>
            </a:pPr>
            <a:r>
              <a:rPr lang="en-US" b="true" sz="5392" spc="-318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7772" y="2715048"/>
            <a:ext cx="731922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7517" y="2714945"/>
            <a:ext cx="4635379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¿Qué es PittySoft?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772" y="4079963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57517" y="4079861"/>
            <a:ext cx="2183242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7772" y="5525454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57517" y="5525352"/>
            <a:ext cx="3424262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Análisis inicial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772" y="6886784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7517" y="6886887"/>
            <a:ext cx="5173653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Objetivos del proyecto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863423" y="5451089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7772" y="8333840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57517" y="8334146"/>
            <a:ext cx="4635379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Factibilidad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8578" y="2458143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67131" y="2458041"/>
            <a:ext cx="5442790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Tecnologías utilizadas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8578" y="4016342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67131" y="4016240"/>
            <a:ext cx="5801639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Metodología de trabajo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8578" y="5451563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67131" y="5392104"/>
            <a:ext cx="5562406" cy="5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</a:pPr>
            <a:r>
              <a:rPr lang="en-US" b="true" sz="344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Planificación Y EDT/WBS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48578" y="6886784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68323" y="6953664"/>
            <a:ext cx="6219677" cy="556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</a:pPr>
            <a:r>
              <a:rPr lang="en-US" b="true" sz="328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 de Trabajo y Carta Gantt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48578" y="8324315"/>
            <a:ext cx="913778" cy="71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2"/>
              </a:lnSpc>
              <a:spcBef>
                <a:spcPct val="0"/>
              </a:spcBef>
            </a:pPr>
            <a:r>
              <a:rPr lang="en-US" b="true" sz="5141" spc="-30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68323" y="8310631"/>
            <a:ext cx="2511567" cy="556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</a:pPr>
            <a:r>
              <a:rPr lang="en-US" b="true" sz="328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7645" y="4063964"/>
            <a:ext cx="4342073" cy="4117792"/>
            <a:chOff x="0" y="0"/>
            <a:chExt cx="1143591" cy="10845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3591" cy="1084521"/>
            </a:xfrm>
            <a:custGeom>
              <a:avLst/>
              <a:gdLst/>
              <a:ahLst/>
              <a:cxnLst/>
              <a:rect r="r" b="b" t="t" l="l"/>
              <a:pathLst>
                <a:path h="1084521" w="1143591">
                  <a:moveTo>
                    <a:pt x="90933" y="0"/>
                  </a:moveTo>
                  <a:lnTo>
                    <a:pt x="1052658" y="0"/>
                  </a:lnTo>
                  <a:cubicBezTo>
                    <a:pt x="1102879" y="0"/>
                    <a:pt x="1143591" y="40712"/>
                    <a:pt x="1143591" y="90933"/>
                  </a:cubicBezTo>
                  <a:lnTo>
                    <a:pt x="1143591" y="993588"/>
                  </a:lnTo>
                  <a:cubicBezTo>
                    <a:pt x="1143591" y="1043809"/>
                    <a:pt x="1102879" y="1084521"/>
                    <a:pt x="1052658" y="1084521"/>
                  </a:cubicBezTo>
                  <a:lnTo>
                    <a:pt x="90933" y="1084521"/>
                  </a:lnTo>
                  <a:cubicBezTo>
                    <a:pt x="40712" y="1084521"/>
                    <a:pt x="0" y="1043809"/>
                    <a:pt x="0" y="993588"/>
                  </a:cubicBezTo>
                  <a:lnTo>
                    <a:pt x="0" y="90933"/>
                  </a:lnTo>
                  <a:cubicBezTo>
                    <a:pt x="0" y="40712"/>
                    <a:pt x="40712" y="0"/>
                    <a:pt x="90933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143591" cy="1036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98409" y="4063964"/>
            <a:ext cx="4342073" cy="4117792"/>
            <a:chOff x="0" y="0"/>
            <a:chExt cx="1143591" cy="10845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591" cy="1084521"/>
            </a:xfrm>
            <a:custGeom>
              <a:avLst/>
              <a:gdLst/>
              <a:ahLst/>
              <a:cxnLst/>
              <a:rect r="r" b="b" t="t" l="l"/>
              <a:pathLst>
                <a:path h="1084521" w="1143591">
                  <a:moveTo>
                    <a:pt x="90933" y="0"/>
                  </a:moveTo>
                  <a:lnTo>
                    <a:pt x="1052658" y="0"/>
                  </a:lnTo>
                  <a:cubicBezTo>
                    <a:pt x="1102879" y="0"/>
                    <a:pt x="1143591" y="40712"/>
                    <a:pt x="1143591" y="90933"/>
                  </a:cubicBezTo>
                  <a:lnTo>
                    <a:pt x="1143591" y="993588"/>
                  </a:lnTo>
                  <a:cubicBezTo>
                    <a:pt x="1143591" y="1043809"/>
                    <a:pt x="1102879" y="1084521"/>
                    <a:pt x="1052658" y="1084521"/>
                  </a:cubicBezTo>
                  <a:lnTo>
                    <a:pt x="90933" y="1084521"/>
                  </a:lnTo>
                  <a:cubicBezTo>
                    <a:pt x="40712" y="1084521"/>
                    <a:pt x="0" y="1043809"/>
                    <a:pt x="0" y="993588"/>
                  </a:cubicBezTo>
                  <a:lnTo>
                    <a:pt x="0" y="90933"/>
                  </a:lnTo>
                  <a:cubicBezTo>
                    <a:pt x="0" y="40712"/>
                    <a:pt x="40712" y="0"/>
                    <a:pt x="90933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143591" cy="1036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39172" y="4063964"/>
            <a:ext cx="4342073" cy="4117792"/>
            <a:chOff x="0" y="0"/>
            <a:chExt cx="1143591" cy="10845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591" cy="1084521"/>
            </a:xfrm>
            <a:custGeom>
              <a:avLst/>
              <a:gdLst/>
              <a:ahLst/>
              <a:cxnLst/>
              <a:rect r="r" b="b" t="t" l="l"/>
              <a:pathLst>
                <a:path h="1084521" w="1143591">
                  <a:moveTo>
                    <a:pt x="90933" y="0"/>
                  </a:moveTo>
                  <a:lnTo>
                    <a:pt x="1052658" y="0"/>
                  </a:lnTo>
                  <a:cubicBezTo>
                    <a:pt x="1102879" y="0"/>
                    <a:pt x="1143591" y="40712"/>
                    <a:pt x="1143591" y="90933"/>
                  </a:cubicBezTo>
                  <a:lnTo>
                    <a:pt x="1143591" y="993588"/>
                  </a:lnTo>
                  <a:cubicBezTo>
                    <a:pt x="1143591" y="1043809"/>
                    <a:pt x="1102879" y="1084521"/>
                    <a:pt x="1052658" y="1084521"/>
                  </a:cubicBezTo>
                  <a:lnTo>
                    <a:pt x="90933" y="1084521"/>
                  </a:lnTo>
                  <a:cubicBezTo>
                    <a:pt x="40712" y="1084521"/>
                    <a:pt x="0" y="1043809"/>
                    <a:pt x="0" y="993588"/>
                  </a:cubicBezTo>
                  <a:lnTo>
                    <a:pt x="0" y="90933"/>
                  </a:lnTo>
                  <a:cubicBezTo>
                    <a:pt x="0" y="40712"/>
                    <a:pt x="40712" y="0"/>
                    <a:pt x="90933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143591" cy="1036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55993" y="2899334"/>
            <a:ext cx="1604592" cy="1532385"/>
          </a:xfrm>
          <a:custGeom>
            <a:avLst/>
            <a:gdLst/>
            <a:ahLst/>
            <a:cxnLst/>
            <a:rect r="r" b="b" t="t" l="l"/>
            <a:pathLst>
              <a:path h="1532385" w="1604592">
                <a:moveTo>
                  <a:pt x="0" y="0"/>
                </a:moveTo>
                <a:lnTo>
                  <a:pt x="1604593" y="0"/>
                </a:lnTo>
                <a:lnTo>
                  <a:pt x="1604593" y="1532386"/>
                </a:lnTo>
                <a:lnTo>
                  <a:pt x="0" y="1532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10238896">
            <a:off x="16102920" y="3117519"/>
            <a:ext cx="932334" cy="876519"/>
          </a:xfrm>
          <a:custGeom>
            <a:avLst/>
            <a:gdLst/>
            <a:ahLst/>
            <a:cxnLst/>
            <a:rect r="r" b="b" t="t" l="l"/>
            <a:pathLst>
              <a:path h="876519" w="932334">
                <a:moveTo>
                  <a:pt x="932334" y="876520"/>
                </a:moveTo>
                <a:lnTo>
                  <a:pt x="0" y="876520"/>
                </a:lnTo>
                <a:lnTo>
                  <a:pt x="0" y="0"/>
                </a:lnTo>
                <a:lnTo>
                  <a:pt x="932334" y="0"/>
                </a:lnTo>
                <a:lnTo>
                  <a:pt x="932334" y="876520"/>
                </a:lnTo>
                <a:close/>
              </a:path>
            </a:pathLst>
          </a:custGeom>
          <a:blipFill>
            <a:blip r:embed="rId4"/>
            <a:stretch>
              <a:fillRect l="0" t="0" r="-274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30374" y="392333"/>
            <a:ext cx="10027253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¿QUÉ 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ES PITTYSOFT?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24151" y="1665961"/>
            <a:ext cx="8439698" cy="11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modular 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esarr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imiza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dm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inist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s,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onta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 de una 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del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óp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3997" y="5744984"/>
            <a:ext cx="4063089" cy="7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clientes, atención y procesos de venta.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30737" y="6635313"/>
            <a:ext cx="2029610" cy="7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4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Responsable:</a:t>
            </a:r>
          </a:p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Axel Blanlot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37900" y="5766833"/>
            <a:ext cx="4063089" cy="108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proveedores, facturas de compra y movimientos financieros.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64431" y="5823983"/>
            <a:ext cx="4063089" cy="108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procesos contables, plan de cuentas e información tributaria.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63029" y="7069559"/>
            <a:ext cx="2702452" cy="7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4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Responsable:</a:t>
            </a:r>
          </a:p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Gabriel Bermar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16848" y="9057124"/>
            <a:ext cx="9654305" cy="364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6"/>
              </a:lnSpc>
              <a:spcBef>
                <a:spcPct val="0"/>
              </a:spcBef>
            </a:pPr>
            <a:r>
              <a:rPr lang="en-US" b="true" sz="2147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 tres módulos forman parte de una misma solución: PittySoft.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-8721467" y="54448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927566" y="-7112603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332554" y="4270167"/>
            <a:ext cx="2392256" cy="743556"/>
            <a:chOff x="0" y="0"/>
            <a:chExt cx="635000" cy="1973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63208" y="0"/>
                  </a:moveTo>
                  <a:lnTo>
                    <a:pt x="571792" y="0"/>
                  </a:lnTo>
                  <a:cubicBezTo>
                    <a:pt x="588556" y="0"/>
                    <a:pt x="604633" y="6659"/>
                    <a:pt x="616487" y="18513"/>
                  </a:cubicBezTo>
                  <a:cubicBezTo>
                    <a:pt x="628341" y="30367"/>
                    <a:pt x="635000" y="46444"/>
                    <a:pt x="635000" y="63208"/>
                  </a:cubicBezTo>
                  <a:lnTo>
                    <a:pt x="635000" y="134162"/>
                  </a:lnTo>
                  <a:cubicBezTo>
                    <a:pt x="635000" y="150925"/>
                    <a:pt x="628341" y="167002"/>
                    <a:pt x="616487" y="178856"/>
                  </a:cubicBezTo>
                  <a:cubicBezTo>
                    <a:pt x="604633" y="190710"/>
                    <a:pt x="588556" y="197369"/>
                    <a:pt x="571792" y="197369"/>
                  </a:cubicBezTo>
                  <a:lnTo>
                    <a:pt x="63208" y="197369"/>
                  </a:lnTo>
                  <a:cubicBezTo>
                    <a:pt x="46444" y="197369"/>
                    <a:pt x="30367" y="190710"/>
                    <a:pt x="18513" y="178856"/>
                  </a:cubicBezTo>
                  <a:cubicBezTo>
                    <a:pt x="6659" y="167002"/>
                    <a:pt x="0" y="150925"/>
                    <a:pt x="0" y="134162"/>
                  </a:cubicBezTo>
                  <a:lnTo>
                    <a:pt x="0" y="63208"/>
                  </a:lnTo>
                  <a:cubicBezTo>
                    <a:pt x="0" y="46444"/>
                    <a:pt x="6659" y="30367"/>
                    <a:pt x="18513" y="18513"/>
                  </a:cubicBezTo>
                  <a:cubicBezTo>
                    <a:pt x="30367" y="6659"/>
                    <a:pt x="46444" y="0"/>
                    <a:pt x="6320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943850" y="4327131"/>
            <a:ext cx="1169663" cy="5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326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</a:t>
            </a:r>
            <a:r>
              <a:rPr lang="en-US" b="true" sz="3268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18219" y="6972190"/>
            <a:ext cx="2702452" cy="7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4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Responsable:</a:t>
            </a:r>
          </a:p>
          <a:p>
            <a:pPr algn="ctr" marL="0" indent="0" lvl="0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Sebastian Quezada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67193" y="5083907"/>
            <a:ext cx="335669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Punt</a:t>
            </a:r>
            <a:r>
              <a:rPr lang="en-US" b="true" sz="2600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de Venta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673317" y="4270167"/>
            <a:ext cx="2392256" cy="743556"/>
            <a:chOff x="0" y="0"/>
            <a:chExt cx="635000" cy="1973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63208" y="0"/>
                  </a:moveTo>
                  <a:lnTo>
                    <a:pt x="571792" y="0"/>
                  </a:lnTo>
                  <a:cubicBezTo>
                    <a:pt x="588556" y="0"/>
                    <a:pt x="604633" y="6659"/>
                    <a:pt x="616487" y="18513"/>
                  </a:cubicBezTo>
                  <a:cubicBezTo>
                    <a:pt x="628341" y="30367"/>
                    <a:pt x="635000" y="46444"/>
                    <a:pt x="635000" y="63208"/>
                  </a:cubicBezTo>
                  <a:lnTo>
                    <a:pt x="635000" y="134162"/>
                  </a:lnTo>
                  <a:cubicBezTo>
                    <a:pt x="635000" y="150925"/>
                    <a:pt x="628341" y="167002"/>
                    <a:pt x="616487" y="178856"/>
                  </a:cubicBezTo>
                  <a:cubicBezTo>
                    <a:pt x="604633" y="190710"/>
                    <a:pt x="588556" y="197369"/>
                    <a:pt x="571792" y="197369"/>
                  </a:cubicBezTo>
                  <a:lnTo>
                    <a:pt x="63208" y="197369"/>
                  </a:lnTo>
                  <a:cubicBezTo>
                    <a:pt x="46444" y="197369"/>
                    <a:pt x="30367" y="190710"/>
                    <a:pt x="18513" y="178856"/>
                  </a:cubicBezTo>
                  <a:cubicBezTo>
                    <a:pt x="6659" y="167002"/>
                    <a:pt x="0" y="150925"/>
                    <a:pt x="0" y="134162"/>
                  </a:cubicBezTo>
                  <a:lnTo>
                    <a:pt x="0" y="63208"/>
                  </a:lnTo>
                  <a:cubicBezTo>
                    <a:pt x="0" y="46444"/>
                    <a:pt x="6659" y="30367"/>
                    <a:pt x="18513" y="18513"/>
                  </a:cubicBezTo>
                  <a:cubicBezTo>
                    <a:pt x="30367" y="6659"/>
                    <a:pt x="46444" y="0"/>
                    <a:pt x="6320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933240" y="4327131"/>
            <a:ext cx="1872410" cy="5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326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SAP-lite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91096" y="5156598"/>
            <a:ext cx="335669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 de Gestión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35906" y="5156598"/>
            <a:ext cx="335669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Contabilidad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999848" y="4270167"/>
            <a:ext cx="2392256" cy="743556"/>
            <a:chOff x="0" y="0"/>
            <a:chExt cx="635000" cy="1973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63208" y="0"/>
                  </a:moveTo>
                  <a:lnTo>
                    <a:pt x="571792" y="0"/>
                  </a:lnTo>
                  <a:cubicBezTo>
                    <a:pt x="588556" y="0"/>
                    <a:pt x="604633" y="6659"/>
                    <a:pt x="616487" y="18513"/>
                  </a:cubicBezTo>
                  <a:cubicBezTo>
                    <a:pt x="628341" y="30367"/>
                    <a:pt x="635000" y="46444"/>
                    <a:pt x="635000" y="63208"/>
                  </a:cubicBezTo>
                  <a:lnTo>
                    <a:pt x="635000" y="134162"/>
                  </a:lnTo>
                  <a:cubicBezTo>
                    <a:pt x="635000" y="150925"/>
                    <a:pt x="628341" y="167002"/>
                    <a:pt x="616487" y="178856"/>
                  </a:cubicBezTo>
                  <a:cubicBezTo>
                    <a:pt x="604633" y="190710"/>
                    <a:pt x="588556" y="197369"/>
                    <a:pt x="571792" y="197369"/>
                  </a:cubicBezTo>
                  <a:lnTo>
                    <a:pt x="63208" y="197369"/>
                  </a:lnTo>
                  <a:cubicBezTo>
                    <a:pt x="46444" y="197369"/>
                    <a:pt x="30367" y="190710"/>
                    <a:pt x="18513" y="178856"/>
                  </a:cubicBezTo>
                  <a:cubicBezTo>
                    <a:pt x="6659" y="167002"/>
                    <a:pt x="0" y="150925"/>
                    <a:pt x="0" y="134162"/>
                  </a:cubicBezTo>
                  <a:lnTo>
                    <a:pt x="0" y="63208"/>
                  </a:lnTo>
                  <a:cubicBezTo>
                    <a:pt x="0" y="46444"/>
                    <a:pt x="6659" y="30367"/>
                    <a:pt x="18513" y="18513"/>
                  </a:cubicBezTo>
                  <a:cubicBezTo>
                    <a:pt x="30367" y="6659"/>
                    <a:pt x="46444" y="0"/>
                    <a:pt x="6320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274778" y="4327131"/>
            <a:ext cx="1872410" cy="5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326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Kuentas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9037" y="3271505"/>
            <a:ext cx="4588782" cy="45887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174869" y="205523"/>
            <a:ext cx="10027253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CONT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EXTO ACTUAL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24151" y="1591200"/>
            <a:ext cx="8439698" cy="11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tualmente, la 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mpre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 u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tiliza disti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plataforma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y fuen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 infor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mac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ión para gestionar sus procesos comerciales, administrativos y contables.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2797" y="4706693"/>
            <a:ext cx="4241263" cy="249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</a:p>
          <a:p>
            <a:pPr algn="l" marL="476296" indent="-238148" lvl="1">
              <a:lnSpc>
                <a:spcPts val="3088"/>
              </a:lnSpc>
              <a:buFont typeface="Arial"/>
              <a:buChar char="•"/>
            </a:pPr>
            <a:r>
              <a:rPr lang="en-US" sz="22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Clientes y fichas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Recetas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Ventas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Productos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Cuentas por cobrar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49609" y="3271505"/>
            <a:ext cx="4588782" cy="458878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50181" y="3271505"/>
            <a:ext cx="4588782" cy="45887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0394155" y="-6369975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48395" y="-10444804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02148" y="3775543"/>
            <a:ext cx="584116" cy="557831"/>
          </a:xfrm>
          <a:custGeom>
            <a:avLst/>
            <a:gdLst/>
            <a:ahLst/>
            <a:cxnLst/>
            <a:rect r="r" b="b" t="t" l="l"/>
            <a:pathLst>
              <a:path h="557831" w="584116">
                <a:moveTo>
                  <a:pt x="0" y="0"/>
                </a:moveTo>
                <a:lnTo>
                  <a:pt x="584116" y="0"/>
                </a:lnTo>
                <a:lnTo>
                  <a:pt x="584116" y="557831"/>
                </a:lnTo>
                <a:lnTo>
                  <a:pt x="0" y="557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70858" y="3730700"/>
            <a:ext cx="537808" cy="545998"/>
          </a:xfrm>
          <a:custGeom>
            <a:avLst/>
            <a:gdLst/>
            <a:ahLst/>
            <a:cxnLst/>
            <a:rect r="r" b="b" t="t" l="l"/>
            <a:pathLst>
              <a:path h="545998" w="537808">
                <a:moveTo>
                  <a:pt x="0" y="0"/>
                </a:moveTo>
                <a:lnTo>
                  <a:pt x="537808" y="0"/>
                </a:lnTo>
                <a:lnTo>
                  <a:pt x="537808" y="545998"/>
                </a:lnTo>
                <a:lnTo>
                  <a:pt x="0" y="545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14766" y="3662014"/>
            <a:ext cx="621867" cy="683370"/>
          </a:xfrm>
          <a:custGeom>
            <a:avLst/>
            <a:gdLst/>
            <a:ahLst/>
            <a:cxnLst/>
            <a:rect r="r" b="b" t="t" l="l"/>
            <a:pathLst>
              <a:path h="683370" w="621867">
                <a:moveTo>
                  <a:pt x="0" y="0"/>
                </a:moveTo>
                <a:lnTo>
                  <a:pt x="621867" y="0"/>
                </a:lnTo>
                <a:lnTo>
                  <a:pt x="621867" y="683370"/>
                </a:lnTo>
                <a:lnTo>
                  <a:pt x="0" y="6833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457691" y="3764744"/>
            <a:ext cx="3298445" cy="52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8"/>
              </a:lnSpc>
              <a:spcBef>
                <a:spcPct val="0"/>
              </a:spcBef>
            </a:pPr>
            <a:r>
              <a:rPr lang="en-US" b="true" sz="306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Área contable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19466" y="5383998"/>
            <a:ext cx="4241263" cy="123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Procesos contables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Plan de cuentas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Registros financieros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67600" y="3785394"/>
            <a:ext cx="3047542" cy="52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8"/>
              </a:lnSpc>
              <a:spcBef>
                <a:spcPct val="0"/>
              </a:spcBef>
            </a:pPr>
            <a:r>
              <a:rPr lang="en-US" b="true" sz="3062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Área comercial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19185" y="3775069"/>
            <a:ext cx="3719206" cy="50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7"/>
              </a:lnSpc>
              <a:spcBef>
                <a:spcPct val="0"/>
              </a:spcBef>
            </a:pPr>
            <a:r>
              <a:rPr lang="en-US" b="true" sz="2926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Área administrativa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79536" y="5383998"/>
            <a:ext cx="3817918" cy="81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MasContable</a:t>
            </a:r>
          </a:p>
          <a:p>
            <a:pPr algn="l" marL="519475" indent="-259737" lvl="1">
              <a:lnSpc>
                <a:spcPts val="3368"/>
              </a:lnSpc>
              <a:buFont typeface="Arial"/>
              <a:buChar char="•"/>
            </a:pPr>
            <a:r>
              <a:rPr lang="en-US" sz="240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MasRemuneraciones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71714" y="8136511"/>
            <a:ext cx="3743428" cy="11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BS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ale, Excel, sistema de cita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s,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lab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tos físicos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05951" y="4500319"/>
            <a:ext cx="1111250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OPTOL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17468" y="4492064"/>
            <a:ext cx="1653064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MasTecno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72286" y="8136511"/>
            <a:ext cx="3743428" cy="11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ancos, cartolas, Excel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PDF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y documentación física.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72858" y="8136511"/>
            <a:ext cx="3743428" cy="36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b="true" sz="21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SII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 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</a:t>
            </a:r>
            <a:r>
              <a:rPr lang="en-US" b="true" sz="2149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ormación tributaria.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66977" y="4500319"/>
            <a:ext cx="2155190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1850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MasContable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047991" y="-6471760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886757" y="4390981"/>
            <a:ext cx="20061513" cy="0"/>
          </a:xfrm>
          <a:prstGeom prst="line">
            <a:avLst/>
          </a:prstGeom>
          <a:ln cap="flat" w="28575">
            <a:solidFill>
              <a:srgbClr val="18507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42806" y="4211205"/>
            <a:ext cx="359553" cy="35955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83273" y="4230255"/>
            <a:ext cx="359553" cy="35955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777248" y="4230255"/>
            <a:ext cx="359553" cy="35955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477421" y="253889"/>
            <a:ext cx="11333159" cy="11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ANÁLI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SIS INICIAL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9829102" y="-6787619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8"/>
                </a:lnTo>
                <a:lnTo>
                  <a:pt x="0" y="1357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90982" y="-9595314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9474" y="5157632"/>
            <a:ext cx="3501141" cy="51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b="true" sz="3777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01. Comercial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08064" y="5010029"/>
            <a:ext cx="4350420" cy="51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b="true" sz="377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02. Administrativo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03548" y="4950641"/>
            <a:ext cx="3214063" cy="51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b="true" sz="377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03. Contable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9474" y="5853642"/>
            <a:ext cx="4629489" cy="325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Digitación manual de información.</a:t>
            </a:r>
          </a:p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Uso complementario de Excel y documentos físicos.</a:t>
            </a:r>
          </a:p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Consulta de distintas fuentes durante la atención.</a:t>
            </a:r>
          </a:p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Oportunidad de agilizar la atención al cliente.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67278" y="1415761"/>
            <a:ext cx="7553444" cy="112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3"/>
              </a:lnSpc>
            </a:pPr>
            <a:r>
              <a:rPr lang="en-US" b="true" sz="20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04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partir del levantamiento realizado con usuarios vinculados a los distintos procesos, identificamos oportunidades de mejora en las tres áreas del proyecto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553430" y="-833866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808064" y="5853642"/>
            <a:ext cx="4629489" cy="325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Revisión manual de cartolas y movimientos.</a:t>
            </a:r>
          </a:p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Cruce de información entre facturas, pagos y registros.</a:t>
            </a:r>
          </a:p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Uso de Excel, PDF y documentación de respaldo.</a:t>
            </a:r>
          </a:p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Oportunidad de mejorar trazabilidad y control.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90982" y="5708526"/>
            <a:ext cx="4629489" cy="366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Necesidad de mantener consistencia contable y tributaria.</a:t>
            </a:r>
          </a:p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Importancia de una estructura definida del plan de cuentas.</a:t>
            </a:r>
          </a:p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Procesos relacionados con información del SII.</a:t>
            </a:r>
          </a:p>
          <a:p>
            <a:pPr algn="l" marL="473474" indent="-236737" lvl="1">
              <a:lnSpc>
                <a:spcPts val="3267"/>
              </a:lnSpc>
              <a:buFont typeface="Arial"/>
              <a:buChar char="•"/>
            </a:pPr>
            <a:r>
              <a:rPr lang="en-US" sz="219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Oportunidad de aumentar integración y control.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7788" y="521599"/>
            <a:ext cx="13092424" cy="110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OBJ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ETIVOS DEL 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210262" y="57111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8"/>
                </a:lnTo>
                <a:lnTo>
                  <a:pt x="0" y="1357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35124" y="-7320983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8"/>
                </a:lnTo>
                <a:lnTo>
                  <a:pt x="0" y="1357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395262" y="1891337"/>
            <a:ext cx="11497475" cy="1304983"/>
            <a:chOff x="0" y="0"/>
            <a:chExt cx="3028142" cy="3436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28142" cy="343699"/>
            </a:xfrm>
            <a:custGeom>
              <a:avLst/>
              <a:gdLst/>
              <a:ahLst/>
              <a:cxnLst/>
              <a:rect r="r" b="b" t="t" l="l"/>
              <a:pathLst>
                <a:path h="343699" w="3028142">
                  <a:moveTo>
                    <a:pt x="34341" y="0"/>
                  </a:moveTo>
                  <a:lnTo>
                    <a:pt x="2993800" y="0"/>
                  </a:lnTo>
                  <a:cubicBezTo>
                    <a:pt x="3002908" y="0"/>
                    <a:pt x="3011643" y="3618"/>
                    <a:pt x="3018083" y="10058"/>
                  </a:cubicBezTo>
                  <a:cubicBezTo>
                    <a:pt x="3024524" y="16499"/>
                    <a:pt x="3028142" y="25233"/>
                    <a:pt x="3028142" y="34341"/>
                  </a:cubicBezTo>
                  <a:lnTo>
                    <a:pt x="3028142" y="309358"/>
                  </a:lnTo>
                  <a:cubicBezTo>
                    <a:pt x="3028142" y="318466"/>
                    <a:pt x="3024524" y="327201"/>
                    <a:pt x="3018083" y="333641"/>
                  </a:cubicBezTo>
                  <a:cubicBezTo>
                    <a:pt x="3011643" y="340081"/>
                    <a:pt x="3002908" y="343699"/>
                    <a:pt x="2993800" y="343699"/>
                  </a:cubicBezTo>
                  <a:lnTo>
                    <a:pt x="34341" y="343699"/>
                  </a:lnTo>
                  <a:cubicBezTo>
                    <a:pt x="25233" y="343699"/>
                    <a:pt x="16499" y="340081"/>
                    <a:pt x="10058" y="333641"/>
                  </a:cubicBezTo>
                  <a:cubicBezTo>
                    <a:pt x="3618" y="327201"/>
                    <a:pt x="0" y="318466"/>
                    <a:pt x="0" y="309358"/>
                  </a:cubicBezTo>
                  <a:lnTo>
                    <a:pt x="0" y="34341"/>
                  </a:lnTo>
                  <a:cubicBezTo>
                    <a:pt x="0" y="25233"/>
                    <a:pt x="3618" y="16499"/>
                    <a:pt x="10058" y="10058"/>
                  </a:cubicBezTo>
                  <a:cubicBezTo>
                    <a:pt x="16499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028142" cy="343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26718" y="4540394"/>
            <a:ext cx="3366341" cy="2198550"/>
            <a:chOff x="0" y="0"/>
            <a:chExt cx="886608" cy="579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6608" cy="579042"/>
            </a:xfrm>
            <a:custGeom>
              <a:avLst/>
              <a:gdLst/>
              <a:ahLst/>
              <a:cxnLst/>
              <a:rect r="r" b="b" t="t" l="l"/>
              <a:pathLst>
                <a:path h="579042" w="886608">
                  <a:moveTo>
                    <a:pt x="117290" y="0"/>
                  </a:moveTo>
                  <a:lnTo>
                    <a:pt x="769318" y="0"/>
                  </a:lnTo>
                  <a:cubicBezTo>
                    <a:pt x="800426" y="0"/>
                    <a:pt x="830259" y="12357"/>
                    <a:pt x="852255" y="34353"/>
                  </a:cubicBezTo>
                  <a:cubicBezTo>
                    <a:pt x="874251" y="56350"/>
                    <a:pt x="886608" y="86183"/>
                    <a:pt x="886608" y="117290"/>
                  </a:cubicBezTo>
                  <a:lnTo>
                    <a:pt x="886608" y="461752"/>
                  </a:lnTo>
                  <a:cubicBezTo>
                    <a:pt x="886608" y="526530"/>
                    <a:pt x="834096" y="579042"/>
                    <a:pt x="769318" y="579042"/>
                  </a:cubicBezTo>
                  <a:lnTo>
                    <a:pt x="117290" y="579042"/>
                  </a:lnTo>
                  <a:cubicBezTo>
                    <a:pt x="52512" y="579042"/>
                    <a:pt x="0" y="526530"/>
                    <a:pt x="0" y="461752"/>
                  </a:cubicBezTo>
                  <a:lnTo>
                    <a:pt x="0" y="117290"/>
                  </a:lnTo>
                  <a:cubicBezTo>
                    <a:pt x="0" y="52512"/>
                    <a:pt x="52512" y="0"/>
                    <a:pt x="117290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886608" cy="531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266"/>
                </a:lnSpc>
              </a:pPr>
              <a:r>
                <a:rPr lang="en-US" b="true" sz="2200" spc="156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01 - Analizar</a:t>
              </a:r>
            </a:p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266"/>
                </a:lnSpc>
              </a:pPr>
              <a:r>
                <a:rPr lang="en-US" sz="2200" spc="156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Procesos actuales y requerimientos de los usuarios.</a:t>
              </a:r>
              <a:r>
                <a:rPr lang="en-US" b="true" sz="2200" spc="156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</a:t>
              </a:r>
            </a:p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53462" y="3548056"/>
            <a:ext cx="2712853" cy="743556"/>
            <a:chOff x="0" y="0"/>
            <a:chExt cx="720099" cy="1973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0099" cy="197369"/>
            </a:xfrm>
            <a:custGeom>
              <a:avLst/>
              <a:gdLst/>
              <a:ahLst/>
              <a:cxnLst/>
              <a:rect r="r" b="b" t="t" l="l"/>
              <a:pathLst>
                <a:path h="197369" w="720099">
                  <a:moveTo>
                    <a:pt x="55738" y="0"/>
                  </a:moveTo>
                  <a:lnTo>
                    <a:pt x="664361" y="0"/>
                  </a:lnTo>
                  <a:cubicBezTo>
                    <a:pt x="695145" y="0"/>
                    <a:pt x="720099" y="24955"/>
                    <a:pt x="720099" y="55738"/>
                  </a:cubicBezTo>
                  <a:lnTo>
                    <a:pt x="720099" y="141631"/>
                  </a:lnTo>
                  <a:cubicBezTo>
                    <a:pt x="720099" y="172415"/>
                    <a:pt x="695145" y="197369"/>
                    <a:pt x="664361" y="197369"/>
                  </a:cubicBezTo>
                  <a:lnTo>
                    <a:pt x="55738" y="197369"/>
                  </a:lnTo>
                  <a:cubicBezTo>
                    <a:pt x="24955" y="197369"/>
                    <a:pt x="0" y="172415"/>
                    <a:pt x="0" y="141631"/>
                  </a:cubicBezTo>
                  <a:lnTo>
                    <a:pt x="0" y="55738"/>
                  </a:lnTo>
                  <a:cubicBezTo>
                    <a:pt x="0" y="24955"/>
                    <a:pt x="24955" y="0"/>
                    <a:pt x="5573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20099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26718" y="6986594"/>
            <a:ext cx="3366341" cy="2770050"/>
            <a:chOff x="0" y="0"/>
            <a:chExt cx="886608" cy="7295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6608" cy="729561"/>
            </a:xfrm>
            <a:custGeom>
              <a:avLst/>
              <a:gdLst/>
              <a:ahLst/>
              <a:cxnLst/>
              <a:rect r="r" b="b" t="t" l="l"/>
              <a:pathLst>
                <a:path h="729561" w="886608">
                  <a:moveTo>
                    <a:pt x="117290" y="0"/>
                  </a:moveTo>
                  <a:lnTo>
                    <a:pt x="769318" y="0"/>
                  </a:lnTo>
                  <a:cubicBezTo>
                    <a:pt x="800426" y="0"/>
                    <a:pt x="830259" y="12357"/>
                    <a:pt x="852255" y="34353"/>
                  </a:cubicBezTo>
                  <a:cubicBezTo>
                    <a:pt x="874251" y="56350"/>
                    <a:pt x="886608" y="86183"/>
                    <a:pt x="886608" y="117290"/>
                  </a:cubicBezTo>
                  <a:lnTo>
                    <a:pt x="886608" y="612271"/>
                  </a:lnTo>
                  <a:cubicBezTo>
                    <a:pt x="886608" y="677048"/>
                    <a:pt x="834096" y="729561"/>
                    <a:pt x="769318" y="729561"/>
                  </a:cubicBezTo>
                  <a:lnTo>
                    <a:pt x="117290" y="729561"/>
                  </a:lnTo>
                  <a:cubicBezTo>
                    <a:pt x="52512" y="729561"/>
                    <a:pt x="0" y="677048"/>
                    <a:pt x="0" y="612271"/>
                  </a:cubicBezTo>
                  <a:lnTo>
                    <a:pt x="0" y="117290"/>
                  </a:lnTo>
                  <a:cubicBezTo>
                    <a:pt x="0" y="52512"/>
                    <a:pt x="52512" y="0"/>
                    <a:pt x="117290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886608" cy="681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266"/>
                </a:lnSpc>
              </a:pPr>
              <a:r>
                <a:rPr lang="en-US" b="true" sz="2200" spc="156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02 - Desarrollar</a:t>
              </a:r>
            </a:p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266"/>
                </a:lnSpc>
              </a:pPr>
              <a:r>
                <a:rPr lang="en-US" sz="2200" spc="156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Los módulos SAP-lite, POS y Kuentas según las especificaciones definidas.</a:t>
              </a:r>
            </a:p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54383" y="4540394"/>
            <a:ext cx="3366341" cy="2770050"/>
            <a:chOff x="0" y="0"/>
            <a:chExt cx="886608" cy="7295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6608" cy="729561"/>
            </a:xfrm>
            <a:custGeom>
              <a:avLst/>
              <a:gdLst/>
              <a:ahLst/>
              <a:cxnLst/>
              <a:rect r="r" b="b" t="t" l="l"/>
              <a:pathLst>
                <a:path h="729561" w="886608">
                  <a:moveTo>
                    <a:pt x="117290" y="0"/>
                  </a:moveTo>
                  <a:lnTo>
                    <a:pt x="769318" y="0"/>
                  </a:lnTo>
                  <a:cubicBezTo>
                    <a:pt x="800426" y="0"/>
                    <a:pt x="830259" y="12357"/>
                    <a:pt x="852255" y="34353"/>
                  </a:cubicBezTo>
                  <a:cubicBezTo>
                    <a:pt x="874251" y="56350"/>
                    <a:pt x="886608" y="86183"/>
                    <a:pt x="886608" y="117290"/>
                  </a:cubicBezTo>
                  <a:lnTo>
                    <a:pt x="886608" y="612271"/>
                  </a:lnTo>
                  <a:cubicBezTo>
                    <a:pt x="886608" y="677048"/>
                    <a:pt x="834096" y="729561"/>
                    <a:pt x="769318" y="729561"/>
                  </a:cubicBezTo>
                  <a:lnTo>
                    <a:pt x="117290" y="729561"/>
                  </a:lnTo>
                  <a:cubicBezTo>
                    <a:pt x="52512" y="729561"/>
                    <a:pt x="0" y="677048"/>
                    <a:pt x="0" y="612271"/>
                  </a:cubicBezTo>
                  <a:lnTo>
                    <a:pt x="0" y="117290"/>
                  </a:lnTo>
                  <a:cubicBezTo>
                    <a:pt x="0" y="52512"/>
                    <a:pt x="52512" y="0"/>
                    <a:pt x="117290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886608" cy="681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266"/>
                </a:lnSpc>
              </a:pPr>
              <a:r>
                <a:rPr lang="en-US" b="true" sz="2200" spc="156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03 - Diseñar e implementar</a:t>
              </a:r>
            </a:p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266"/>
                </a:lnSpc>
              </a:pPr>
              <a:r>
                <a:rPr lang="en-US" sz="2200" spc="156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Los modelos de datos necesarios para soportar la solución.</a:t>
              </a:r>
            </a:p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881127" y="3548056"/>
            <a:ext cx="2712853" cy="743556"/>
            <a:chOff x="0" y="0"/>
            <a:chExt cx="720099" cy="1973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099" cy="197369"/>
            </a:xfrm>
            <a:custGeom>
              <a:avLst/>
              <a:gdLst/>
              <a:ahLst/>
              <a:cxnLst/>
              <a:rect r="r" b="b" t="t" l="l"/>
              <a:pathLst>
                <a:path h="197369" w="720099">
                  <a:moveTo>
                    <a:pt x="55738" y="0"/>
                  </a:moveTo>
                  <a:lnTo>
                    <a:pt x="664361" y="0"/>
                  </a:lnTo>
                  <a:cubicBezTo>
                    <a:pt x="695145" y="0"/>
                    <a:pt x="720099" y="24955"/>
                    <a:pt x="720099" y="55738"/>
                  </a:cubicBezTo>
                  <a:lnTo>
                    <a:pt x="720099" y="141631"/>
                  </a:lnTo>
                  <a:cubicBezTo>
                    <a:pt x="720099" y="172415"/>
                    <a:pt x="695145" y="197369"/>
                    <a:pt x="664361" y="197369"/>
                  </a:cubicBezTo>
                  <a:lnTo>
                    <a:pt x="55738" y="197369"/>
                  </a:lnTo>
                  <a:cubicBezTo>
                    <a:pt x="24955" y="197369"/>
                    <a:pt x="0" y="172415"/>
                    <a:pt x="0" y="141631"/>
                  </a:cubicBezTo>
                  <a:lnTo>
                    <a:pt x="0" y="55738"/>
                  </a:lnTo>
                  <a:cubicBezTo>
                    <a:pt x="0" y="24955"/>
                    <a:pt x="24955" y="0"/>
                    <a:pt x="5573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20099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82048" y="4540394"/>
            <a:ext cx="3366341" cy="2341425"/>
            <a:chOff x="0" y="0"/>
            <a:chExt cx="886608" cy="6166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6608" cy="616672"/>
            </a:xfrm>
            <a:custGeom>
              <a:avLst/>
              <a:gdLst/>
              <a:ahLst/>
              <a:cxnLst/>
              <a:rect r="r" b="b" t="t" l="l"/>
              <a:pathLst>
                <a:path h="616672" w="886608">
                  <a:moveTo>
                    <a:pt x="117290" y="0"/>
                  </a:moveTo>
                  <a:lnTo>
                    <a:pt x="769318" y="0"/>
                  </a:lnTo>
                  <a:cubicBezTo>
                    <a:pt x="800426" y="0"/>
                    <a:pt x="830259" y="12357"/>
                    <a:pt x="852255" y="34353"/>
                  </a:cubicBezTo>
                  <a:cubicBezTo>
                    <a:pt x="874251" y="56350"/>
                    <a:pt x="886608" y="86183"/>
                    <a:pt x="886608" y="117290"/>
                  </a:cubicBezTo>
                  <a:lnTo>
                    <a:pt x="886608" y="499382"/>
                  </a:lnTo>
                  <a:cubicBezTo>
                    <a:pt x="886608" y="564159"/>
                    <a:pt x="834096" y="616672"/>
                    <a:pt x="769318" y="616672"/>
                  </a:cubicBezTo>
                  <a:lnTo>
                    <a:pt x="117290" y="616672"/>
                  </a:lnTo>
                  <a:cubicBezTo>
                    <a:pt x="52512" y="616672"/>
                    <a:pt x="0" y="564159"/>
                    <a:pt x="0" y="499382"/>
                  </a:cubicBezTo>
                  <a:lnTo>
                    <a:pt x="0" y="117290"/>
                  </a:lnTo>
                  <a:cubicBezTo>
                    <a:pt x="0" y="52512"/>
                    <a:pt x="52512" y="0"/>
                    <a:pt x="117290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886608" cy="569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060"/>
                </a:lnSpc>
              </a:pPr>
              <a:r>
                <a:rPr lang="en-US" b="true" sz="2000" spc="142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04 - Validar y mejorar</a:t>
              </a:r>
            </a:p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060"/>
                </a:lnSpc>
              </a:pPr>
              <a:r>
                <a:rPr lang="en-US" sz="2000" spc="142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Diseñar y e</a:t>
              </a:r>
              <a:r>
                <a:rPr lang="en-US" sz="2000" spc="142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jecutar pruebas, aplicando las correcciones y mejoras identificadas.</a:t>
              </a:r>
            </a:p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408792" y="3548056"/>
            <a:ext cx="2712853" cy="743556"/>
            <a:chOff x="0" y="0"/>
            <a:chExt cx="720099" cy="1973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0099" cy="197369"/>
            </a:xfrm>
            <a:custGeom>
              <a:avLst/>
              <a:gdLst/>
              <a:ahLst/>
              <a:cxnLst/>
              <a:rect r="r" b="b" t="t" l="l"/>
              <a:pathLst>
                <a:path h="197369" w="720099">
                  <a:moveTo>
                    <a:pt x="55738" y="0"/>
                  </a:moveTo>
                  <a:lnTo>
                    <a:pt x="664361" y="0"/>
                  </a:lnTo>
                  <a:cubicBezTo>
                    <a:pt x="695145" y="0"/>
                    <a:pt x="720099" y="24955"/>
                    <a:pt x="720099" y="55738"/>
                  </a:cubicBezTo>
                  <a:lnTo>
                    <a:pt x="720099" y="141631"/>
                  </a:lnTo>
                  <a:cubicBezTo>
                    <a:pt x="720099" y="172415"/>
                    <a:pt x="695145" y="197369"/>
                    <a:pt x="664361" y="197369"/>
                  </a:cubicBezTo>
                  <a:lnTo>
                    <a:pt x="55738" y="197369"/>
                  </a:lnTo>
                  <a:cubicBezTo>
                    <a:pt x="24955" y="197369"/>
                    <a:pt x="0" y="172415"/>
                    <a:pt x="0" y="141631"/>
                  </a:cubicBezTo>
                  <a:lnTo>
                    <a:pt x="0" y="55738"/>
                  </a:lnTo>
                  <a:cubicBezTo>
                    <a:pt x="0" y="24955"/>
                    <a:pt x="24955" y="0"/>
                    <a:pt x="55738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20099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082048" y="6986594"/>
            <a:ext cx="3366341" cy="2484300"/>
            <a:chOff x="0" y="0"/>
            <a:chExt cx="886608" cy="6543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6608" cy="654301"/>
            </a:xfrm>
            <a:custGeom>
              <a:avLst/>
              <a:gdLst/>
              <a:ahLst/>
              <a:cxnLst/>
              <a:rect r="r" b="b" t="t" l="l"/>
              <a:pathLst>
                <a:path h="654301" w="886608">
                  <a:moveTo>
                    <a:pt x="117290" y="0"/>
                  </a:moveTo>
                  <a:lnTo>
                    <a:pt x="769318" y="0"/>
                  </a:lnTo>
                  <a:cubicBezTo>
                    <a:pt x="800426" y="0"/>
                    <a:pt x="830259" y="12357"/>
                    <a:pt x="852255" y="34353"/>
                  </a:cubicBezTo>
                  <a:cubicBezTo>
                    <a:pt x="874251" y="56350"/>
                    <a:pt x="886608" y="86183"/>
                    <a:pt x="886608" y="117290"/>
                  </a:cubicBezTo>
                  <a:lnTo>
                    <a:pt x="886608" y="537011"/>
                  </a:lnTo>
                  <a:cubicBezTo>
                    <a:pt x="886608" y="601789"/>
                    <a:pt x="834096" y="654301"/>
                    <a:pt x="769318" y="654301"/>
                  </a:cubicBezTo>
                  <a:lnTo>
                    <a:pt x="117290" y="654301"/>
                  </a:lnTo>
                  <a:cubicBezTo>
                    <a:pt x="52512" y="654301"/>
                    <a:pt x="0" y="601789"/>
                    <a:pt x="0" y="537011"/>
                  </a:cubicBezTo>
                  <a:lnTo>
                    <a:pt x="0" y="117290"/>
                  </a:lnTo>
                  <a:cubicBezTo>
                    <a:pt x="0" y="52512"/>
                    <a:pt x="52512" y="0"/>
                    <a:pt x="117290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47625"/>
              <a:ext cx="886608" cy="606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266"/>
                </a:lnSpc>
              </a:pPr>
              <a:r>
                <a:rPr lang="en-US" b="true" sz="2200" spc="156">
                  <a:solidFill>
                    <a:srgbClr val="18507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05 - Integrar</a:t>
              </a:r>
            </a:p>
            <a:p>
              <a:pPr algn="ctr">
                <a:lnSpc>
                  <a:spcPts val="2266"/>
                </a:lnSpc>
              </a:pPr>
            </a:p>
            <a:p>
              <a:pPr algn="ctr">
                <a:lnSpc>
                  <a:spcPts val="2266"/>
                </a:lnSpc>
              </a:pPr>
              <a:r>
                <a:rPr lang="en-US" sz="2200" spc="156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Los componentes desarrollados en un entorno de validación.</a:t>
              </a:r>
              <a:r>
                <a:rPr lang="en-US" sz="2200" spc="156">
                  <a:solidFill>
                    <a:srgbClr val="18507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</a:p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5747360" y="3716453"/>
            <a:ext cx="1452722" cy="406762"/>
          </a:xfrm>
          <a:custGeom>
            <a:avLst/>
            <a:gdLst/>
            <a:ahLst/>
            <a:cxnLst/>
            <a:rect r="r" b="b" t="t" l="l"/>
            <a:pathLst>
              <a:path h="406762" w="1452722">
                <a:moveTo>
                  <a:pt x="0" y="0"/>
                </a:moveTo>
                <a:lnTo>
                  <a:pt x="1452722" y="0"/>
                </a:lnTo>
                <a:lnTo>
                  <a:pt x="1452722" y="406762"/>
                </a:lnTo>
                <a:lnTo>
                  <a:pt x="0" y="40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058527" y="2087419"/>
            <a:ext cx="10358053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arr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uci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ó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so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war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modular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rm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ce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ali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imi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zar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proc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sos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min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strati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s,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iale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conta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edia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 l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 m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ó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dul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POS,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SAP-l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ite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</a:t>
            </a:r>
            <a:r>
              <a:rPr lang="en-US" b="true" sz="18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uentas.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19409" y="3605019"/>
            <a:ext cx="1780959" cy="5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326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Análisis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14101" y="3605019"/>
            <a:ext cx="2246906" cy="5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326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Desarrollo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641765" y="3605019"/>
            <a:ext cx="2246906" cy="5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3268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Validación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391512" y="3716453"/>
            <a:ext cx="1452722" cy="406762"/>
          </a:xfrm>
          <a:custGeom>
            <a:avLst/>
            <a:gdLst/>
            <a:ahLst/>
            <a:cxnLst/>
            <a:rect r="r" b="b" t="t" l="l"/>
            <a:pathLst>
              <a:path h="406762" w="1452722">
                <a:moveTo>
                  <a:pt x="0" y="0"/>
                </a:moveTo>
                <a:lnTo>
                  <a:pt x="1452722" y="0"/>
                </a:lnTo>
                <a:lnTo>
                  <a:pt x="1452722" y="406762"/>
                </a:lnTo>
                <a:lnTo>
                  <a:pt x="0" y="40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9084" y="2508950"/>
            <a:ext cx="4835491" cy="6868970"/>
            <a:chOff x="0" y="0"/>
            <a:chExt cx="1273545" cy="18091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3545" cy="1809111"/>
            </a:xfrm>
            <a:custGeom>
              <a:avLst/>
              <a:gdLst/>
              <a:ahLst/>
              <a:cxnLst/>
              <a:rect r="r" b="b" t="t" l="l"/>
              <a:pathLst>
                <a:path h="1809111" w="1273545">
                  <a:moveTo>
                    <a:pt x="81654" y="0"/>
                  </a:moveTo>
                  <a:lnTo>
                    <a:pt x="1191891" y="0"/>
                  </a:lnTo>
                  <a:cubicBezTo>
                    <a:pt x="1213547" y="0"/>
                    <a:pt x="1234316" y="8603"/>
                    <a:pt x="1249629" y="23916"/>
                  </a:cubicBezTo>
                  <a:cubicBezTo>
                    <a:pt x="1264942" y="39229"/>
                    <a:pt x="1273545" y="59998"/>
                    <a:pt x="1273545" y="81654"/>
                  </a:cubicBezTo>
                  <a:lnTo>
                    <a:pt x="1273545" y="1727457"/>
                  </a:lnTo>
                  <a:cubicBezTo>
                    <a:pt x="1273545" y="1749113"/>
                    <a:pt x="1264942" y="1769882"/>
                    <a:pt x="1249629" y="1785195"/>
                  </a:cubicBezTo>
                  <a:cubicBezTo>
                    <a:pt x="1234316" y="1800509"/>
                    <a:pt x="1213547" y="1809111"/>
                    <a:pt x="1191891" y="1809111"/>
                  </a:cubicBezTo>
                  <a:lnTo>
                    <a:pt x="81654" y="1809111"/>
                  </a:lnTo>
                  <a:cubicBezTo>
                    <a:pt x="59998" y="1809111"/>
                    <a:pt x="39229" y="1800509"/>
                    <a:pt x="23916" y="1785195"/>
                  </a:cubicBezTo>
                  <a:cubicBezTo>
                    <a:pt x="8603" y="1769882"/>
                    <a:pt x="0" y="1749113"/>
                    <a:pt x="0" y="1727457"/>
                  </a:cubicBezTo>
                  <a:lnTo>
                    <a:pt x="0" y="81654"/>
                  </a:lnTo>
                  <a:cubicBezTo>
                    <a:pt x="0" y="59998"/>
                    <a:pt x="8603" y="39229"/>
                    <a:pt x="23916" y="23916"/>
                  </a:cubicBezTo>
                  <a:cubicBezTo>
                    <a:pt x="39229" y="8603"/>
                    <a:pt x="59998" y="0"/>
                    <a:pt x="81654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273545" cy="1761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6832" y="2508950"/>
            <a:ext cx="4835491" cy="6868970"/>
            <a:chOff x="0" y="0"/>
            <a:chExt cx="1273545" cy="1809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3545" cy="1809111"/>
            </a:xfrm>
            <a:custGeom>
              <a:avLst/>
              <a:gdLst/>
              <a:ahLst/>
              <a:cxnLst/>
              <a:rect r="r" b="b" t="t" l="l"/>
              <a:pathLst>
                <a:path h="1809111" w="1273545">
                  <a:moveTo>
                    <a:pt x="81654" y="0"/>
                  </a:moveTo>
                  <a:lnTo>
                    <a:pt x="1191891" y="0"/>
                  </a:lnTo>
                  <a:cubicBezTo>
                    <a:pt x="1213547" y="0"/>
                    <a:pt x="1234316" y="8603"/>
                    <a:pt x="1249629" y="23916"/>
                  </a:cubicBezTo>
                  <a:cubicBezTo>
                    <a:pt x="1264942" y="39229"/>
                    <a:pt x="1273545" y="59998"/>
                    <a:pt x="1273545" y="81654"/>
                  </a:cubicBezTo>
                  <a:lnTo>
                    <a:pt x="1273545" y="1727457"/>
                  </a:lnTo>
                  <a:cubicBezTo>
                    <a:pt x="1273545" y="1749113"/>
                    <a:pt x="1264942" y="1769882"/>
                    <a:pt x="1249629" y="1785195"/>
                  </a:cubicBezTo>
                  <a:cubicBezTo>
                    <a:pt x="1234316" y="1800509"/>
                    <a:pt x="1213547" y="1809111"/>
                    <a:pt x="1191891" y="1809111"/>
                  </a:cubicBezTo>
                  <a:lnTo>
                    <a:pt x="81654" y="1809111"/>
                  </a:lnTo>
                  <a:cubicBezTo>
                    <a:pt x="59998" y="1809111"/>
                    <a:pt x="39229" y="1800509"/>
                    <a:pt x="23916" y="1785195"/>
                  </a:cubicBezTo>
                  <a:cubicBezTo>
                    <a:pt x="8603" y="1769882"/>
                    <a:pt x="0" y="1749113"/>
                    <a:pt x="0" y="1727457"/>
                  </a:cubicBezTo>
                  <a:lnTo>
                    <a:pt x="0" y="81654"/>
                  </a:lnTo>
                  <a:cubicBezTo>
                    <a:pt x="0" y="59998"/>
                    <a:pt x="8603" y="39229"/>
                    <a:pt x="23916" y="23916"/>
                  </a:cubicBezTo>
                  <a:cubicBezTo>
                    <a:pt x="39229" y="8603"/>
                    <a:pt x="59998" y="0"/>
                    <a:pt x="81654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273545" cy="1761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64580" y="2508950"/>
            <a:ext cx="4835491" cy="6868970"/>
            <a:chOff x="0" y="0"/>
            <a:chExt cx="1273545" cy="18091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3545" cy="1809111"/>
            </a:xfrm>
            <a:custGeom>
              <a:avLst/>
              <a:gdLst/>
              <a:ahLst/>
              <a:cxnLst/>
              <a:rect r="r" b="b" t="t" l="l"/>
              <a:pathLst>
                <a:path h="1809111" w="1273545">
                  <a:moveTo>
                    <a:pt x="81654" y="0"/>
                  </a:moveTo>
                  <a:lnTo>
                    <a:pt x="1191891" y="0"/>
                  </a:lnTo>
                  <a:cubicBezTo>
                    <a:pt x="1213547" y="0"/>
                    <a:pt x="1234316" y="8603"/>
                    <a:pt x="1249629" y="23916"/>
                  </a:cubicBezTo>
                  <a:cubicBezTo>
                    <a:pt x="1264942" y="39229"/>
                    <a:pt x="1273545" y="59998"/>
                    <a:pt x="1273545" y="81654"/>
                  </a:cubicBezTo>
                  <a:lnTo>
                    <a:pt x="1273545" y="1727457"/>
                  </a:lnTo>
                  <a:cubicBezTo>
                    <a:pt x="1273545" y="1749113"/>
                    <a:pt x="1264942" y="1769882"/>
                    <a:pt x="1249629" y="1785195"/>
                  </a:cubicBezTo>
                  <a:cubicBezTo>
                    <a:pt x="1234316" y="1800509"/>
                    <a:pt x="1213547" y="1809111"/>
                    <a:pt x="1191891" y="1809111"/>
                  </a:cubicBezTo>
                  <a:lnTo>
                    <a:pt x="81654" y="1809111"/>
                  </a:lnTo>
                  <a:cubicBezTo>
                    <a:pt x="59998" y="1809111"/>
                    <a:pt x="39229" y="1800509"/>
                    <a:pt x="23916" y="1785195"/>
                  </a:cubicBezTo>
                  <a:cubicBezTo>
                    <a:pt x="8603" y="1769882"/>
                    <a:pt x="0" y="1749113"/>
                    <a:pt x="0" y="1727457"/>
                  </a:cubicBezTo>
                  <a:lnTo>
                    <a:pt x="0" y="81654"/>
                  </a:lnTo>
                  <a:cubicBezTo>
                    <a:pt x="0" y="59998"/>
                    <a:pt x="8603" y="39229"/>
                    <a:pt x="23916" y="23916"/>
                  </a:cubicBezTo>
                  <a:cubicBezTo>
                    <a:pt x="39229" y="8603"/>
                    <a:pt x="59998" y="0"/>
                    <a:pt x="81654" y="0"/>
                  </a:cubicBezTo>
                  <a:close/>
                </a:path>
              </a:pathLst>
            </a:custGeom>
            <a:solidFill>
              <a:srgbClr val="95BFD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273545" cy="1761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957552" y="2926969"/>
            <a:ext cx="738553" cy="720089"/>
          </a:xfrm>
          <a:custGeom>
            <a:avLst/>
            <a:gdLst/>
            <a:ahLst/>
            <a:cxnLst/>
            <a:rect r="r" b="b" t="t" l="l"/>
            <a:pathLst>
              <a:path h="720089" w="738553">
                <a:moveTo>
                  <a:pt x="0" y="0"/>
                </a:moveTo>
                <a:lnTo>
                  <a:pt x="738553" y="0"/>
                </a:lnTo>
                <a:lnTo>
                  <a:pt x="738553" y="720089"/>
                </a:lnTo>
                <a:lnTo>
                  <a:pt x="0" y="7200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8802995" y="2926969"/>
            <a:ext cx="682010" cy="685437"/>
          </a:xfrm>
          <a:custGeom>
            <a:avLst/>
            <a:gdLst/>
            <a:ahLst/>
            <a:cxnLst/>
            <a:rect r="r" b="b" t="t" l="l"/>
            <a:pathLst>
              <a:path h="685437" w="682010">
                <a:moveTo>
                  <a:pt x="0" y="0"/>
                </a:moveTo>
                <a:lnTo>
                  <a:pt x="682010" y="0"/>
                </a:lnTo>
                <a:lnTo>
                  <a:pt x="682010" y="685438"/>
                </a:lnTo>
                <a:lnTo>
                  <a:pt x="0" y="6854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772631" y="2897514"/>
            <a:ext cx="828723" cy="778999"/>
          </a:xfrm>
          <a:custGeom>
            <a:avLst/>
            <a:gdLst/>
            <a:ahLst/>
            <a:cxnLst/>
            <a:rect r="r" b="b" t="t" l="l"/>
            <a:pathLst>
              <a:path h="778999" w="828723">
                <a:moveTo>
                  <a:pt x="0" y="0"/>
                </a:moveTo>
                <a:lnTo>
                  <a:pt x="828722" y="0"/>
                </a:lnTo>
                <a:lnTo>
                  <a:pt x="828722" y="778999"/>
                </a:lnTo>
                <a:lnTo>
                  <a:pt x="0" y="7789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68008" y="237188"/>
            <a:ext cx="9751984" cy="79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3"/>
              </a:lnSpc>
              <a:spcBef>
                <a:spcPct val="0"/>
              </a:spcBef>
            </a:pPr>
            <a:r>
              <a:rPr lang="en-US" b="true" sz="5577" spc="-3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FACTIBIL</a:t>
            </a:r>
            <a:r>
              <a:rPr lang="en-US" b="true" sz="5577" spc="-329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IDAD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5594" y="3695563"/>
            <a:ext cx="3382469" cy="41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5"/>
              </a:lnSpc>
              <a:spcBef>
                <a:spcPct val="0"/>
              </a:spcBef>
            </a:pPr>
            <a:r>
              <a:rPr lang="en-US" b="true" sz="2894" spc="-17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Factibil</a:t>
            </a:r>
            <a:r>
              <a:rPr lang="en-US" b="true" sz="2894" spc="-17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idad Técnica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3630" y="3695563"/>
            <a:ext cx="3561894" cy="41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5"/>
              </a:lnSpc>
              <a:spcBef>
                <a:spcPct val="0"/>
              </a:spcBef>
            </a:pPr>
            <a:r>
              <a:rPr lang="en-US" b="true" sz="2894" spc="-17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Factibil</a:t>
            </a:r>
            <a:r>
              <a:rPr lang="en-US" b="true" sz="2894" spc="-17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idad Operativa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41572" y="3695563"/>
            <a:ext cx="3890839" cy="41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5"/>
              </a:lnSpc>
              <a:spcBef>
                <a:spcPct val="0"/>
              </a:spcBef>
            </a:pPr>
            <a:r>
              <a:rPr lang="en-US" b="true" sz="2894" spc="-17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Factibil</a:t>
            </a:r>
            <a:r>
              <a:rPr lang="en-US" b="true" sz="2894" spc="-17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idad Económica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5594" y="4535758"/>
            <a:ext cx="3382469" cy="432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5"/>
              </a:lnSpc>
              <a:spcBef>
                <a:spcPct val="0"/>
              </a:spcBef>
            </a:pPr>
            <a:r>
              <a:rPr lang="en-US" sz="2894" spc="-170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El equipo domina el stack tecnologico seleccionado (lenguajes, frameworks y base de datos). Contamos con la infraestructura de desarrollo y entornos de prueba necesarios para la implementación.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13342" y="4628350"/>
            <a:ext cx="3382469" cy="432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5"/>
              </a:lnSpc>
              <a:spcBef>
                <a:spcPct val="0"/>
              </a:spcBef>
            </a:pPr>
            <a:r>
              <a:rPr lang="en-US" sz="2894" spc="-170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El alcance del proyecto (3 módulos específicos) está correctamente dimensionado para ser ejecutado dentro de las 18 semanas, alineado con las capacidades y roles del equipo  de desarrollo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91091" y="4535758"/>
            <a:ext cx="3382469" cy="432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5"/>
              </a:lnSpc>
              <a:spcBef>
                <a:spcPct val="0"/>
              </a:spcBef>
            </a:pPr>
            <a:r>
              <a:rPr lang="en-US" sz="2894" spc="-170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El proyecto se desarrolla utilizando recursos académicos y herramientas  open-source o de licencias estudiantiles, por lo que no requiere inversión de captial externo para su fase  de construcción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-9576220" y="-7101613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286565" y="-7101613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720270" y="1306146"/>
          <a:ext cx="14731420" cy="8401050"/>
        </p:xfrm>
        <a:graphic>
          <a:graphicData uri="http://schemas.openxmlformats.org/drawingml/2006/table">
            <a:tbl>
              <a:tblPr/>
              <a:tblGrid>
                <a:gridCol w="2990236"/>
                <a:gridCol w="11741184"/>
              </a:tblGrid>
              <a:tr h="803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Tecnología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F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Uso en PittySoft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FD1"/>
                    </a:solidFill>
                  </a:tcPr>
                </a:tc>
              </a:tr>
              <a:tr h="803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Vue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Frontend / interfaz web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</a:tr>
              <a:tr h="803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TypeScript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Lenguaje utilizado en frontend y 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</a:tr>
              <a:tr h="803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Construcción y entorno del 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</a:tr>
              <a:tr h="803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Tailwind CSS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Estilos de la interfaz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</a:tr>
              <a:tr h="803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NestJS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Framework del 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</a:tr>
              <a:tr h="803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Prisma 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Acceso y gestión de la base de 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</a:tr>
              <a:tr h="803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PostgreSQL 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Base de datos principal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</a:tr>
              <a:tr h="803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Redis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Caché / almacenamiento temporal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</a:tr>
              <a:tr h="11673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Google Cloud Platform (GCP)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90"/>
                        </a:lnSpc>
                        <a:defRPr/>
                      </a:pPr>
                      <a:r>
                        <a:rPr lang="en-US" sz="2064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Infraestructura cloud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6E1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2000039" y="2179276"/>
            <a:ext cx="650372" cy="650372"/>
          </a:xfrm>
          <a:custGeom>
            <a:avLst/>
            <a:gdLst/>
            <a:ahLst/>
            <a:cxnLst/>
            <a:rect r="r" b="b" t="t" l="l"/>
            <a:pathLst>
              <a:path h="650372" w="650372">
                <a:moveTo>
                  <a:pt x="0" y="0"/>
                </a:moveTo>
                <a:lnTo>
                  <a:pt x="650373" y="0"/>
                </a:lnTo>
                <a:lnTo>
                  <a:pt x="650373" y="650372"/>
                </a:lnTo>
                <a:lnTo>
                  <a:pt x="0" y="650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00039" y="3014140"/>
            <a:ext cx="580514" cy="580514"/>
          </a:xfrm>
          <a:custGeom>
            <a:avLst/>
            <a:gdLst/>
            <a:ahLst/>
            <a:cxnLst/>
            <a:rect r="r" b="b" t="t" l="l"/>
            <a:pathLst>
              <a:path h="580514" w="580514">
                <a:moveTo>
                  <a:pt x="0" y="0"/>
                </a:moveTo>
                <a:lnTo>
                  <a:pt x="580515" y="0"/>
                </a:lnTo>
                <a:lnTo>
                  <a:pt x="580515" y="580514"/>
                </a:lnTo>
                <a:lnTo>
                  <a:pt x="0" y="58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99719" y="3775629"/>
            <a:ext cx="580835" cy="572486"/>
          </a:xfrm>
          <a:custGeom>
            <a:avLst/>
            <a:gdLst/>
            <a:ahLst/>
            <a:cxnLst/>
            <a:rect r="r" b="b" t="t" l="l"/>
            <a:pathLst>
              <a:path h="572486" w="580835">
                <a:moveTo>
                  <a:pt x="0" y="0"/>
                </a:moveTo>
                <a:lnTo>
                  <a:pt x="580835" y="0"/>
                </a:lnTo>
                <a:lnTo>
                  <a:pt x="580835" y="572486"/>
                </a:lnTo>
                <a:lnTo>
                  <a:pt x="0" y="572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66144" y="4529090"/>
            <a:ext cx="614410" cy="614410"/>
          </a:xfrm>
          <a:custGeom>
            <a:avLst/>
            <a:gdLst/>
            <a:ahLst/>
            <a:cxnLst/>
            <a:rect r="r" b="b" t="t" l="l"/>
            <a:pathLst>
              <a:path h="614410" w="614410">
                <a:moveTo>
                  <a:pt x="0" y="0"/>
                </a:moveTo>
                <a:lnTo>
                  <a:pt x="614410" y="0"/>
                </a:lnTo>
                <a:lnTo>
                  <a:pt x="614410" y="614410"/>
                </a:lnTo>
                <a:lnTo>
                  <a:pt x="0" y="614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66144" y="5324475"/>
            <a:ext cx="606127" cy="585542"/>
          </a:xfrm>
          <a:custGeom>
            <a:avLst/>
            <a:gdLst/>
            <a:ahLst/>
            <a:cxnLst/>
            <a:rect r="r" b="b" t="t" l="l"/>
            <a:pathLst>
              <a:path h="585542" w="606127">
                <a:moveTo>
                  <a:pt x="0" y="0"/>
                </a:moveTo>
                <a:lnTo>
                  <a:pt x="606127" y="0"/>
                </a:lnTo>
                <a:lnTo>
                  <a:pt x="606127" y="585542"/>
                </a:lnTo>
                <a:lnTo>
                  <a:pt x="0" y="585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66144" y="6090992"/>
            <a:ext cx="541371" cy="657187"/>
          </a:xfrm>
          <a:custGeom>
            <a:avLst/>
            <a:gdLst/>
            <a:ahLst/>
            <a:cxnLst/>
            <a:rect r="r" b="b" t="t" l="l"/>
            <a:pathLst>
              <a:path h="657187" w="541371">
                <a:moveTo>
                  <a:pt x="0" y="0"/>
                </a:moveTo>
                <a:lnTo>
                  <a:pt x="541371" y="0"/>
                </a:lnTo>
                <a:lnTo>
                  <a:pt x="541371" y="657186"/>
                </a:lnTo>
                <a:lnTo>
                  <a:pt x="0" y="6571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87022" y="6929153"/>
            <a:ext cx="693532" cy="715365"/>
          </a:xfrm>
          <a:custGeom>
            <a:avLst/>
            <a:gdLst/>
            <a:ahLst/>
            <a:cxnLst/>
            <a:rect r="r" b="b" t="t" l="l"/>
            <a:pathLst>
              <a:path h="715365" w="693532">
                <a:moveTo>
                  <a:pt x="0" y="0"/>
                </a:moveTo>
                <a:lnTo>
                  <a:pt x="693532" y="0"/>
                </a:lnTo>
                <a:lnTo>
                  <a:pt x="693532" y="715366"/>
                </a:lnTo>
                <a:lnTo>
                  <a:pt x="0" y="7153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87022" y="7825494"/>
            <a:ext cx="678063" cy="579580"/>
          </a:xfrm>
          <a:custGeom>
            <a:avLst/>
            <a:gdLst/>
            <a:ahLst/>
            <a:cxnLst/>
            <a:rect r="r" b="b" t="t" l="l"/>
            <a:pathLst>
              <a:path h="579580" w="678063">
                <a:moveTo>
                  <a:pt x="0" y="0"/>
                </a:moveTo>
                <a:lnTo>
                  <a:pt x="678063" y="0"/>
                </a:lnTo>
                <a:lnTo>
                  <a:pt x="678063" y="579579"/>
                </a:lnTo>
                <a:lnTo>
                  <a:pt x="0" y="5795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94654" y="8839862"/>
            <a:ext cx="685900" cy="553007"/>
          </a:xfrm>
          <a:custGeom>
            <a:avLst/>
            <a:gdLst/>
            <a:ahLst/>
            <a:cxnLst/>
            <a:rect r="r" b="b" t="t" l="l"/>
            <a:pathLst>
              <a:path h="553007" w="685900">
                <a:moveTo>
                  <a:pt x="0" y="0"/>
                </a:moveTo>
                <a:lnTo>
                  <a:pt x="685900" y="0"/>
                </a:lnTo>
                <a:lnTo>
                  <a:pt x="685900" y="553007"/>
                </a:lnTo>
                <a:lnTo>
                  <a:pt x="0" y="553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86666" y="237188"/>
            <a:ext cx="8914669" cy="79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3"/>
              </a:lnSpc>
              <a:spcBef>
                <a:spcPct val="0"/>
              </a:spcBef>
            </a:pPr>
            <a:r>
              <a:rPr lang="en-US" b="true" sz="5577" spc="-32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TECNOLOGÍAS UTILIZADAS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8335199" y="-8738944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76278" y="-7665222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3174" y="198583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METODOLOGÍA DE TRABAJO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3270" y="2470861"/>
            <a:ext cx="3043725" cy="47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8"/>
              </a:lnSpc>
              <a:spcBef>
                <a:spcPct val="0"/>
              </a:spcBef>
            </a:pPr>
            <a:r>
              <a:rPr lang="en-US" b="true" sz="2763" u="sng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Enfoque hibrido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9884162" y="4227983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58129" y="1182111"/>
            <a:ext cx="5356998" cy="7047112"/>
            <a:chOff x="0" y="0"/>
            <a:chExt cx="812800" cy="10692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069236"/>
            </a:xfrm>
            <a:custGeom>
              <a:avLst/>
              <a:gdLst/>
              <a:ahLst/>
              <a:cxnLst/>
              <a:rect r="r" b="b" t="t" l="l"/>
              <a:pathLst>
                <a:path h="1069236" w="812800">
                  <a:moveTo>
                    <a:pt x="33240" y="0"/>
                  </a:moveTo>
                  <a:lnTo>
                    <a:pt x="779560" y="0"/>
                  </a:lnTo>
                  <a:cubicBezTo>
                    <a:pt x="797918" y="0"/>
                    <a:pt x="812800" y="14882"/>
                    <a:pt x="812800" y="33240"/>
                  </a:cubicBezTo>
                  <a:lnTo>
                    <a:pt x="812800" y="1035996"/>
                  </a:lnTo>
                  <a:cubicBezTo>
                    <a:pt x="812800" y="1054354"/>
                    <a:pt x="797918" y="1069236"/>
                    <a:pt x="779560" y="1069236"/>
                  </a:cubicBezTo>
                  <a:lnTo>
                    <a:pt x="33240" y="1069236"/>
                  </a:lnTo>
                  <a:cubicBezTo>
                    <a:pt x="14882" y="1069236"/>
                    <a:pt x="0" y="1054354"/>
                    <a:pt x="0" y="1035996"/>
                  </a:cubicBezTo>
                  <a:lnTo>
                    <a:pt x="0" y="33240"/>
                  </a:lnTo>
                  <a:cubicBezTo>
                    <a:pt x="0" y="14882"/>
                    <a:pt x="14882" y="0"/>
                    <a:pt x="33240" y="0"/>
                  </a:cubicBezTo>
                  <a:close/>
                </a:path>
              </a:pathLst>
            </a:custGeom>
            <a:blipFill>
              <a:blip r:embed="rId4"/>
              <a:stretch>
                <a:fillRect l="-60083" t="0" r="-6008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23270" y="4189883"/>
            <a:ext cx="8155112" cy="112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  <a:spcBef>
                <a:spcPct val="0"/>
              </a:spcBef>
            </a:pPr>
            <a:r>
              <a:rPr lang="en-US" b="true" sz="216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Spec-Driven Development (SDD): </a:t>
            </a:r>
            <a:r>
              <a:rPr lang="en-US" sz="216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Elegido por su trazabilidad entre requerimientos, SPEC, criterios de aceptación y funcionalidades desarrolladas.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3174" y="6030763"/>
            <a:ext cx="8155112" cy="1126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  <a:spcBef>
                <a:spcPct val="0"/>
              </a:spcBef>
            </a:pPr>
            <a:r>
              <a:rPr lang="en-US" b="true" sz="216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Scrum — Complemento: </a:t>
            </a:r>
            <a:r>
              <a:rPr lang="en-US" sz="216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Incorporamos prácticas de planificación, Backlog, priorización y revisión periódica de avances.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2590" y="8864769"/>
            <a:ext cx="1727157" cy="536831"/>
            <a:chOff x="0" y="0"/>
            <a:chExt cx="635000" cy="1973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51600" y="8864769"/>
            <a:ext cx="1727157" cy="536831"/>
            <a:chOff x="0" y="0"/>
            <a:chExt cx="635000" cy="1973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50610" y="8864769"/>
            <a:ext cx="1727157" cy="536831"/>
            <a:chOff x="0" y="0"/>
            <a:chExt cx="635000" cy="1973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49620" y="8864769"/>
            <a:ext cx="1727157" cy="536831"/>
            <a:chOff x="0" y="0"/>
            <a:chExt cx="635000" cy="1973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148629" y="8864769"/>
            <a:ext cx="1727157" cy="536831"/>
            <a:chOff x="0" y="0"/>
            <a:chExt cx="635000" cy="1973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47639" y="8864769"/>
            <a:ext cx="1727157" cy="536831"/>
            <a:chOff x="0" y="0"/>
            <a:chExt cx="635000" cy="1973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746649" y="8864769"/>
            <a:ext cx="1727157" cy="536831"/>
            <a:chOff x="0" y="0"/>
            <a:chExt cx="635000" cy="1973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" cy="197369"/>
            </a:xfrm>
            <a:custGeom>
              <a:avLst/>
              <a:gdLst/>
              <a:ahLst/>
              <a:cxnLst/>
              <a:rect r="r" b="b" t="t" l="l"/>
              <a:pathLst>
                <a:path h="197369" w="635000">
                  <a:moveTo>
                    <a:pt x="87548" y="0"/>
                  </a:moveTo>
                  <a:lnTo>
                    <a:pt x="547452" y="0"/>
                  </a:lnTo>
                  <a:cubicBezTo>
                    <a:pt x="595803" y="0"/>
                    <a:pt x="635000" y="39197"/>
                    <a:pt x="635000" y="87548"/>
                  </a:cubicBezTo>
                  <a:lnTo>
                    <a:pt x="635000" y="109821"/>
                  </a:lnTo>
                  <a:cubicBezTo>
                    <a:pt x="635000" y="158173"/>
                    <a:pt x="595803" y="197369"/>
                    <a:pt x="547452" y="197369"/>
                  </a:cubicBezTo>
                  <a:lnTo>
                    <a:pt x="87548" y="197369"/>
                  </a:lnTo>
                  <a:cubicBezTo>
                    <a:pt x="39197" y="197369"/>
                    <a:pt x="0" y="158173"/>
                    <a:pt x="0" y="109821"/>
                  </a:cubicBezTo>
                  <a:lnTo>
                    <a:pt x="0" y="87548"/>
                  </a:lnTo>
                  <a:cubicBezTo>
                    <a:pt x="0" y="39197"/>
                    <a:pt x="39197" y="0"/>
                    <a:pt x="87548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5000" cy="235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52590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51600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50610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49620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48629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Pruebas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47639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Validación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746649" y="8973157"/>
            <a:ext cx="1678608" cy="2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64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Corrección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2766545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7" y="0"/>
                </a:lnTo>
                <a:lnTo>
                  <a:pt x="398257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064482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7" y="0"/>
                </a:lnTo>
                <a:lnTo>
                  <a:pt x="398257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362419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8" y="0"/>
                </a:lnTo>
                <a:lnTo>
                  <a:pt x="398258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660356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8" y="0"/>
                </a:lnTo>
                <a:lnTo>
                  <a:pt x="398258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958293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8" y="0"/>
                </a:lnTo>
                <a:lnTo>
                  <a:pt x="398258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256230" y="9077429"/>
            <a:ext cx="398258" cy="111512"/>
          </a:xfrm>
          <a:custGeom>
            <a:avLst/>
            <a:gdLst/>
            <a:ahLst/>
            <a:cxnLst/>
            <a:rect r="r" b="b" t="t" l="l"/>
            <a:pathLst>
              <a:path h="111512" w="398258">
                <a:moveTo>
                  <a:pt x="0" y="0"/>
                </a:moveTo>
                <a:lnTo>
                  <a:pt x="398258" y="0"/>
                </a:lnTo>
                <a:lnTo>
                  <a:pt x="398258" y="111512"/>
                </a:lnTo>
                <a:lnTo>
                  <a:pt x="0" y="11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23270" y="3340050"/>
            <a:ext cx="8155112" cy="36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  <a:spcBef>
                <a:spcPct val="0"/>
              </a:spcBef>
            </a:pPr>
            <a:r>
              <a:rPr lang="en-US" b="true" sz="2163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Metodologías evaluadas: </a:t>
            </a:r>
            <a:r>
              <a:rPr lang="en-US" sz="2163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Scrum  · SDD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0346" y="76200"/>
            <a:ext cx="10559705" cy="89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5"/>
              </a:lnSpc>
              <a:spcBef>
                <a:spcPct val="0"/>
              </a:spcBef>
            </a:pPr>
            <a:r>
              <a:rPr lang="en-US" b="true" sz="6384" spc="-376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ALCANCE EDT/WBS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513926" y="-9034046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75201" y="46887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76678" y="972976"/>
            <a:ext cx="14134643" cy="8920798"/>
          </a:xfrm>
          <a:custGeom>
            <a:avLst/>
            <a:gdLst/>
            <a:ahLst/>
            <a:cxnLst/>
            <a:rect r="r" b="b" t="t" l="l"/>
            <a:pathLst>
              <a:path h="8920798" w="14134643">
                <a:moveTo>
                  <a:pt x="0" y="0"/>
                </a:moveTo>
                <a:lnTo>
                  <a:pt x="14134644" y="0"/>
                </a:lnTo>
                <a:lnTo>
                  <a:pt x="14134644" y="8920798"/>
                </a:lnTo>
                <a:lnTo>
                  <a:pt x="0" y="8920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27487" y="240670"/>
            <a:ext cx="9033025" cy="60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4"/>
              </a:lnSpc>
              <a:spcBef>
                <a:spcPct val="0"/>
              </a:spcBef>
            </a:pPr>
            <a:r>
              <a:rPr lang="en-US" b="true" sz="4281" spc="-252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PLAN DE TRABAJO Y CARTA GANTT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747200" y="-7664881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05165" y="-6094915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98723" y="1806203"/>
            <a:ext cx="17290553" cy="7945518"/>
            <a:chOff x="0" y="0"/>
            <a:chExt cx="4553891" cy="2092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53891" cy="2092647"/>
            </a:xfrm>
            <a:custGeom>
              <a:avLst/>
              <a:gdLst/>
              <a:ahLst/>
              <a:cxnLst/>
              <a:rect r="r" b="b" t="t" l="l"/>
              <a:pathLst>
                <a:path h="2092647" w="4553891">
                  <a:moveTo>
                    <a:pt x="22835" y="0"/>
                  </a:moveTo>
                  <a:lnTo>
                    <a:pt x="4531055" y="0"/>
                  </a:lnTo>
                  <a:cubicBezTo>
                    <a:pt x="4537111" y="0"/>
                    <a:pt x="4542920" y="2406"/>
                    <a:pt x="4547202" y="6688"/>
                  </a:cubicBezTo>
                  <a:cubicBezTo>
                    <a:pt x="4551485" y="10971"/>
                    <a:pt x="4553891" y="16779"/>
                    <a:pt x="4553891" y="22835"/>
                  </a:cubicBezTo>
                  <a:lnTo>
                    <a:pt x="4553891" y="2069811"/>
                  </a:lnTo>
                  <a:cubicBezTo>
                    <a:pt x="4553891" y="2075867"/>
                    <a:pt x="4551485" y="2081676"/>
                    <a:pt x="4547202" y="2085958"/>
                  </a:cubicBezTo>
                  <a:cubicBezTo>
                    <a:pt x="4542920" y="2090241"/>
                    <a:pt x="4537111" y="2092647"/>
                    <a:pt x="4531055" y="2092647"/>
                  </a:cubicBezTo>
                  <a:lnTo>
                    <a:pt x="22835" y="2092647"/>
                  </a:lnTo>
                  <a:cubicBezTo>
                    <a:pt x="16779" y="2092647"/>
                    <a:pt x="10971" y="2090241"/>
                    <a:pt x="6688" y="2085958"/>
                  </a:cubicBezTo>
                  <a:cubicBezTo>
                    <a:pt x="2406" y="2081676"/>
                    <a:pt x="0" y="2075867"/>
                    <a:pt x="0" y="2069811"/>
                  </a:cubicBezTo>
                  <a:lnTo>
                    <a:pt x="0" y="22835"/>
                  </a:lnTo>
                  <a:cubicBezTo>
                    <a:pt x="0" y="16779"/>
                    <a:pt x="2406" y="10971"/>
                    <a:pt x="6688" y="6688"/>
                  </a:cubicBezTo>
                  <a:cubicBezTo>
                    <a:pt x="10971" y="2406"/>
                    <a:pt x="16779" y="0"/>
                    <a:pt x="22835" y="0"/>
                  </a:cubicBezTo>
                  <a:close/>
                </a:path>
              </a:pathLst>
            </a:custGeom>
            <a:solidFill>
              <a:srgbClr val="0D13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4553891" cy="2045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55428" y="2049162"/>
            <a:ext cx="16777145" cy="7421561"/>
          </a:xfrm>
          <a:custGeom>
            <a:avLst/>
            <a:gdLst/>
            <a:ahLst/>
            <a:cxnLst/>
            <a:rect r="r" b="b" t="t" l="l"/>
            <a:pathLst>
              <a:path h="7421561" w="16777145">
                <a:moveTo>
                  <a:pt x="0" y="0"/>
                </a:moveTo>
                <a:lnTo>
                  <a:pt x="16777144" y="0"/>
                </a:lnTo>
                <a:lnTo>
                  <a:pt x="16777144" y="7421561"/>
                </a:lnTo>
                <a:lnTo>
                  <a:pt x="0" y="74215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2" r="0" b="-752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5837" y="757775"/>
            <a:ext cx="16736327" cy="8771450"/>
            <a:chOff x="0" y="0"/>
            <a:chExt cx="4407921" cy="23101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7921" cy="2310176"/>
            </a:xfrm>
            <a:custGeom>
              <a:avLst/>
              <a:gdLst/>
              <a:ahLst/>
              <a:cxnLst/>
              <a:rect r="r" b="b" t="t" l="l"/>
              <a:pathLst>
                <a:path h="2310176" w="4407921">
                  <a:moveTo>
                    <a:pt x="16190" y="0"/>
                  </a:moveTo>
                  <a:lnTo>
                    <a:pt x="4391731" y="0"/>
                  </a:lnTo>
                  <a:cubicBezTo>
                    <a:pt x="4400672" y="0"/>
                    <a:pt x="4407921" y="7249"/>
                    <a:pt x="4407921" y="16190"/>
                  </a:cubicBezTo>
                  <a:lnTo>
                    <a:pt x="4407921" y="2293986"/>
                  </a:lnTo>
                  <a:cubicBezTo>
                    <a:pt x="4407921" y="2302927"/>
                    <a:pt x="4400672" y="2310176"/>
                    <a:pt x="4391731" y="2310176"/>
                  </a:cubicBezTo>
                  <a:lnTo>
                    <a:pt x="16190" y="2310176"/>
                  </a:lnTo>
                  <a:cubicBezTo>
                    <a:pt x="7249" y="2310176"/>
                    <a:pt x="0" y="2302927"/>
                    <a:pt x="0" y="2293986"/>
                  </a:cubicBezTo>
                  <a:lnTo>
                    <a:pt x="0" y="16190"/>
                  </a:lnTo>
                  <a:cubicBezTo>
                    <a:pt x="0" y="7249"/>
                    <a:pt x="7249" y="0"/>
                    <a:pt x="16190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7921" cy="234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80438" y="2948687"/>
            <a:ext cx="3911512" cy="4161472"/>
            <a:chOff x="0" y="0"/>
            <a:chExt cx="935533" cy="9953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5533" cy="995317"/>
            </a:xfrm>
            <a:custGeom>
              <a:avLst/>
              <a:gdLst/>
              <a:ahLst/>
              <a:cxnLst/>
              <a:rect r="r" b="b" t="t" l="l"/>
              <a:pathLst>
                <a:path h="995317" w="9355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947814"/>
                  </a:lnTo>
                  <a:cubicBezTo>
                    <a:pt x="935533" y="960413"/>
                    <a:pt x="930528" y="972495"/>
                    <a:pt x="921620" y="981404"/>
                  </a:cubicBezTo>
                  <a:cubicBezTo>
                    <a:pt x="912711" y="990312"/>
                    <a:pt x="900629" y="995317"/>
                    <a:pt x="888030" y="995317"/>
                  </a:cubicBezTo>
                  <a:lnTo>
                    <a:pt x="47502" y="995317"/>
                  </a:lnTo>
                  <a:cubicBezTo>
                    <a:pt x="34904" y="995317"/>
                    <a:pt x="22822" y="990312"/>
                    <a:pt x="13913" y="981404"/>
                  </a:cubicBezTo>
                  <a:cubicBezTo>
                    <a:pt x="5005" y="972495"/>
                    <a:pt x="0" y="960413"/>
                    <a:pt x="0" y="947814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935533" cy="995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Problematica</a:t>
              </a:r>
            </a:p>
            <a:p>
              <a:pPr algn="ctr">
                <a:lnSpc>
                  <a:spcPts val="2879"/>
                </a:lnSpc>
              </a:pP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identificaron procesos que aún requieren digitación, revisión, cruce y validación manual de información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proveniente de distintas fuentes.</a:t>
              </a:r>
            </a:p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659567" y="3194330"/>
            <a:ext cx="753254" cy="753254"/>
          </a:xfrm>
          <a:custGeom>
            <a:avLst/>
            <a:gdLst/>
            <a:ahLst/>
            <a:cxnLst/>
            <a:rect r="r" b="b" t="t" l="l"/>
            <a:pathLst>
              <a:path h="753254" w="753254">
                <a:moveTo>
                  <a:pt x="0" y="0"/>
                </a:moveTo>
                <a:lnTo>
                  <a:pt x="753255" y="0"/>
                </a:lnTo>
                <a:lnTo>
                  <a:pt x="753255" y="753254"/>
                </a:lnTo>
                <a:lnTo>
                  <a:pt x="0" y="75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188244" y="2948687"/>
            <a:ext cx="3911512" cy="4161472"/>
            <a:chOff x="0" y="0"/>
            <a:chExt cx="935533" cy="9953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5533" cy="995317"/>
            </a:xfrm>
            <a:custGeom>
              <a:avLst/>
              <a:gdLst/>
              <a:ahLst/>
              <a:cxnLst/>
              <a:rect r="r" b="b" t="t" l="l"/>
              <a:pathLst>
                <a:path h="995317" w="9355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947814"/>
                  </a:lnTo>
                  <a:cubicBezTo>
                    <a:pt x="935533" y="960413"/>
                    <a:pt x="930528" y="972495"/>
                    <a:pt x="921620" y="981404"/>
                  </a:cubicBezTo>
                  <a:cubicBezTo>
                    <a:pt x="912711" y="990312"/>
                    <a:pt x="900629" y="995317"/>
                    <a:pt x="888030" y="995317"/>
                  </a:cubicBezTo>
                  <a:lnTo>
                    <a:pt x="47502" y="995317"/>
                  </a:lnTo>
                  <a:cubicBezTo>
                    <a:pt x="34904" y="995317"/>
                    <a:pt x="22822" y="990312"/>
                    <a:pt x="13913" y="981404"/>
                  </a:cubicBezTo>
                  <a:cubicBezTo>
                    <a:pt x="5005" y="972495"/>
                    <a:pt x="0" y="960413"/>
                    <a:pt x="0" y="947814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935533" cy="995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Propuesta</a:t>
              </a:r>
            </a:p>
            <a:p>
              <a:pPr algn="ctr">
                <a:lnSpc>
                  <a:spcPts val="2879"/>
                </a:lnSpc>
              </a:pP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PittySoft busca abordar estas necesidades mediante una solución modular compuesta por </a:t>
              </a:r>
              <a:r>
                <a:rPr lang="en-US" sz="1900" b="tru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POS, SAP-lite y Kuentas,</a:t>
              </a: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dentro del alcance definido para el Proyecto APT.</a:t>
              </a:r>
            </a:p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99906" y="2948687"/>
            <a:ext cx="3911512" cy="4161472"/>
            <a:chOff x="0" y="0"/>
            <a:chExt cx="935533" cy="9953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5533" cy="995317"/>
            </a:xfrm>
            <a:custGeom>
              <a:avLst/>
              <a:gdLst/>
              <a:ahLst/>
              <a:cxnLst/>
              <a:rect r="r" b="b" t="t" l="l"/>
              <a:pathLst>
                <a:path h="995317" w="9355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947814"/>
                  </a:lnTo>
                  <a:cubicBezTo>
                    <a:pt x="935533" y="960413"/>
                    <a:pt x="930528" y="972495"/>
                    <a:pt x="921620" y="981404"/>
                  </a:cubicBezTo>
                  <a:cubicBezTo>
                    <a:pt x="912711" y="990312"/>
                    <a:pt x="900629" y="995317"/>
                    <a:pt x="888030" y="995317"/>
                  </a:cubicBezTo>
                  <a:lnTo>
                    <a:pt x="47502" y="995317"/>
                  </a:lnTo>
                  <a:cubicBezTo>
                    <a:pt x="34904" y="995317"/>
                    <a:pt x="22822" y="990312"/>
                    <a:pt x="13913" y="981404"/>
                  </a:cubicBezTo>
                  <a:cubicBezTo>
                    <a:pt x="5005" y="972495"/>
                    <a:pt x="0" y="960413"/>
                    <a:pt x="0" y="947814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35533" cy="995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BF6F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Resultado</a:t>
              </a:r>
            </a:p>
            <a:p>
              <a:pPr algn="ctr">
                <a:lnSpc>
                  <a:spcPts val="2879"/>
                </a:lnSpc>
              </a:pPr>
            </a:p>
            <a:p>
              <a:pPr algn="ctr" marL="0" indent="0" lvl="0">
                <a:lnSpc>
                  <a:spcPts val="228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Desarrollar, probar e integrar los componentes definidos en un entorno de validación, realizando correcciones y mejoras a partir de los resultados obtenidos.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629424" y="3237469"/>
            <a:ext cx="1029152" cy="710115"/>
          </a:xfrm>
          <a:custGeom>
            <a:avLst/>
            <a:gdLst/>
            <a:ahLst/>
            <a:cxnLst/>
            <a:rect r="r" b="b" t="t" l="l"/>
            <a:pathLst>
              <a:path h="710115" w="1029152">
                <a:moveTo>
                  <a:pt x="0" y="0"/>
                </a:moveTo>
                <a:lnTo>
                  <a:pt x="1029152" y="0"/>
                </a:lnTo>
                <a:lnTo>
                  <a:pt x="1029152" y="710115"/>
                </a:lnTo>
                <a:lnTo>
                  <a:pt x="0" y="710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871531" y="3170037"/>
            <a:ext cx="844978" cy="844978"/>
          </a:xfrm>
          <a:custGeom>
            <a:avLst/>
            <a:gdLst/>
            <a:ahLst/>
            <a:cxnLst/>
            <a:rect r="r" b="b" t="t" l="l"/>
            <a:pathLst>
              <a:path h="844978" w="844978">
                <a:moveTo>
                  <a:pt x="0" y="0"/>
                </a:moveTo>
                <a:lnTo>
                  <a:pt x="844979" y="0"/>
                </a:lnTo>
                <a:lnTo>
                  <a:pt x="844979" y="844979"/>
                </a:lnTo>
                <a:lnTo>
                  <a:pt x="0" y="844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58686" y="7153143"/>
            <a:ext cx="2340529" cy="1895828"/>
          </a:xfrm>
          <a:custGeom>
            <a:avLst/>
            <a:gdLst/>
            <a:ahLst/>
            <a:cxnLst/>
            <a:rect r="r" b="b" t="t" l="l"/>
            <a:pathLst>
              <a:path h="1895828" w="2340529">
                <a:moveTo>
                  <a:pt x="0" y="0"/>
                </a:moveTo>
                <a:lnTo>
                  <a:pt x="2340528" y="0"/>
                </a:lnTo>
                <a:lnTo>
                  <a:pt x="2340528" y="1895828"/>
                </a:lnTo>
                <a:lnTo>
                  <a:pt x="0" y="18958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684078" y="1641537"/>
            <a:ext cx="6919843" cy="87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69"/>
              </a:lnSpc>
              <a:spcBef>
                <a:spcPct val="0"/>
              </a:spcBef>
            </a:pPr>
            <a:r>
              <a:rPr lang="en-US" b="true" sz="6175" spc="-364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</a:t>
            </a:r>
            <a:r>
              <a:rPr lang="en-US" b="true" sz="6175" spc="-364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ONCLUSIÓN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43475" y="8253977"/>
            <a:ext cx="10801050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arr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de so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are 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os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 dato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trike="noStrike" u="non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Pruebas y validación • Gestión de proyectos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84078" y="7561909"/>
            <a:ext cx="6919843" cy="4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5"/>
              </a:lnSpc>
              <a:spcBef>
                <a:spcPct val="0"/>
              </a:spcBef>
            </a:pPr>
            <a:r>
              <a:rPr lang="en-US" b="true" sz="2875" spc="-169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COMPETENCIAS APLICADAS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DAHUGvuQtko</dc:identifier>
  <dcterms:modified xsi:type="dcterms:W3CDTF">2011-08-01T06:04:30Z</dcterms:modified>
  <cp:revision>1</cp:revision>
  <dc:title>Presentación Proyecto APT (Grupo 8)</dc:title>
</cp:coreProperties>
</file>