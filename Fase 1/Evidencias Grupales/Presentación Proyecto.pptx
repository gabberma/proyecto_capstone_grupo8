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Open Sauce" charset="1" panose="00000500000000000000"/>
      <p:regular r:id="rId18"/>
    </p:embeddedFont>
    <p:embeddedFont>
      <p:font typeface="Open Sauce Semi-Bold" charset="1" panose="00000700000000000000"/>
      <p:regular r:id="rId19"/>
    </p:embeddedFont>
    <p:embeddedFont>
      <p:font typeface="Open Sauce Bold" charset="1" panose="00000800000000000000"/>
      <p:regular r:id="rId20"/>
    </p:embeddedFont>
    <p:embeddedFont>
      <p:font typeface="Open Sans Bold" charset="1" panose="020B0806030504020204"/>
      <p:regular r:id="rId21"/>
    </p:embeddedFont>
    <p:embeddedFont>
      <p:font typeface="Open Sans" charset="1" panose="020B0606030504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2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21.png" Type="http://schemas.openxmlformats.org/officeDocument/2006/relationships/image"/><Relationship Id="rId8" Target="../media/image2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png" Type="http://schemas.openxmlformats.org/officeDocument/2006/relationships/image"/><Relationship Id="rId11" Target="../media/image32.png" Type="http://schemas.openxmlformats.org/officeDocument/2006/relationships/image"/><Relationship Id="rId12" Target="../media/image2.png" Type="http://schemas.openxmlformats.org/officeDocument/2006/relationships/image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Relationship Id="rId8" Target="../media/image29.pn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3.jpeg" Type="http://schemas.openxmlformats.org/officeDocument/2006/relationships/image"/><Relationship Id="rId5" Target="../media/image34.png" Type="http://schemas.openxmlformats.org/officeDocument/2006/relationships/image"/><Relationship Id="rId6" Target="../media/image35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6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37.png" Type="http://schemas.openxmlformats.org/officeDocument/2006/relationships/image"/><Relationship Id="rId4" Target="../media/image38.svg" Type="http://schemas.openxmlformats.org/officeDocument/2006/relationships/image"/><Relationship Id="rId5" Target="../media/image39.png" Type="http://schemas.openxmlformats.org/officeDocument/2006/relationships/image"/><Relationship Id="rId6" Target="../media/image40.svg" Type="http://schemas.openxmlformats.org/officeDocument/2006/relationships/image"/><Relationship Id="rId7" Target="../media/image41.png" Type="http://schemas.openxmlformats.org/officeDocument/2006/relationships/image"/><Relationship Id="rId8" Target="../media/image42.svg" Type="http://schemas.openxmlformats.org/officeDocument/2006/relationships/image"/><Relationship Id="rId9" Target="../media/image4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85762" y="2577008"/>
            <a:ext cx="6366634" cy="12388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479"/>
              </a:lnSpc>
            </a:pPr>
            <a:r>
              <a:rPr lang="en-US" sz="8777" spc="-517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PITTYSOFT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5742603" y="-4316939"/>
            <a:ext cx="22188662" cy="18920878"/>
          </a:xfrm>
          <a:custGeom>
            <a:avLst/>
            <a:gdLst/>
            <a:ahLst/>
            <a:cxnLst/>
            <a:rect r="r" b="b" t="t" l="l"/>
            <a:pathLst>
              <a:path h="18920878" w="22188662">
                <a:moveTo>
                  <a:pt x="0" y="0"/>
                </a:moveTo>
                <a:lnTo>
                  <a:pt x="22188663" y="0"/>
                </a:lnTo>
                <a:lnTo>
                  <a:pt x="22188663" y="18920878"/>
                </a:lnTo>
                <a:lnTo>
                  <a:pt x="0" y="189208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17238" y="157256"/>
            <a:ext cx="4689739" cy="1154116"/>
          </a:xfrm>
          <a:custGeom>
            <a:avLst/>
            <a:gdLst/>
            <a:ahLst/>
            <a:cxnLst/>
            <a:rect r="r" b="b" t="t" l="l"/>
            <a:pathLst>
              <a:path h="1154116" w="4689739">
                <a:moveTo>
                  <a:pt x="0" y="0"/>
                </a:moveTo>
                <a:lnTo>
                  <a:pt x="4689739" y="0"/>
                </a:lnTo>
                <a:lnTo>
                  <a:pt x="4689739" y="1154115"/>
                </a:lnTo>
                <a:lnTo>
                  <a:pt x="0" y="11541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283638">
            <a:off x="12192809" y="2994188"/>
            <a:ext cx="4802933" cy="4298625"/>
          </a:xfrm>
          <a:custGeom>
            <a:avLst/>
            <a:gdLst/>
            <a:ahLst/>
            <a:cxnLst/>
            <a:rect r="r" b="b" t="t" l="l"/>
            <a:pathLst>
              <a:path h="4298625" w="4802933">
                <a:moveTo>
                  <a:pt x="0" y="0"/>
                </a:moveTo>
                <a:lnTo>
                  <a:pt x="4802932" y="0"/>
                </a:lnTo>
                <a:lnTo>
                  <a:pt x="4802932" y="4298624"/>
                </a:lnTo>
                <a:lnTo>
                  <a:pt x="0" y="42986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5762" y="3892022"/>
            <a:ext cx="10443484" cy="9692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20"/>
              </a:lnSpc>
              <a:spcBef>
                <a:spcPct val="0"/>
              </a:spcBef>
            </a:pPr>
            <a:r>
              <a:rPr lang="en-US" b="true" sz="6870" spc="-405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PROYECTO APT – FASE 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85762" y="7914024"/>
            <a:ext cx="4159277" cy="1812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Integrantes: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Axel Blanlot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Gabriel Bermar</a:t>
            </a:r>
          </a:p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Sebastian Quezada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657414" y="9160465"/>
            <a:ext cx="5430202" cy="469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Docente: Mallen Gonzalez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657414" y="9658433"/>
            <a:ext cx="6312373" cy="4693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4"/>
              </a:lnSpc>
            </a:pPr>
            <a:r>
              <a:rPr lang="en-US" sz="3300" spc="-118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Carrera: Ingeniería en Informática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8153289" y="493643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1275201" y="-77263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7278811" y="3568254"/>
            <a:ext cx="3169225" cy="3267242"/>
          </a:xfrm>
          <a:custGeom>
            <a:avLst/>
            <a:gdLst/>
            <a:ahLst/>
            <a:cxnLst/>
            <a:rect r="r" b="b" t="t" l="l"/>
            <a:pathLst>
              <a:path h="3267242" w="3169225">
                <a:moveTo>
                  <a:pt x="0" y="0"/>
                </a:moveTo>
                <a:lnTo>
                  <a:pt x="3169225" y="0"/>
                </a:lnTo>
                <a:lnTo>
                  <a:pt x="3169225" y="3267242"/>
                </a:lnTo>
                <a:lnTo>
                  <a:pt x="0" y="32672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754315" y="675574"/>
            <a:ext cx="2779371" cy="763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823"/>
              </a:lnSpc>
              <a:spcBef>
                <a:spcPct val="0"/>
              </a:spcBef>
            </a:pPr>
            <a:r>
              <a:rPr lang="en-US" b="true" sz="5392" spc="-318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AGENDA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7772" y="2715048"/>
            <a:ext cx="731922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57517" y="2714945"/>
            <a:ext cx="463537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¿Qué es PittySoft?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37772" y="407996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957517" y="4079861"/>
            <a:ext cx="2183242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Contexto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37772" y="552545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57517" y="5525352"/>
            <a:ext cx="3424262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Análisis inicial  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37772" y="688678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957517" y="6886887"/>
            <a:ext cx="5173653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Objetivos del proyecto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8863423" y="5451089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37772" y="8333840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05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957517" y="8334146"/>
            <a:ext cx="463537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Factibilidad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048578" y="245814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06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067131" y="2458041"/>
            <a:ext cx="5442790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Tecnologías utilizadas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048578" y="4016342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07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067131" y="4016240"/>
            <a:ext cx="5801639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Metodología de trabajo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1048578" y="5451563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08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067131" y="5392104"/>
            <a:ext cx="5562406" cy="580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20"/>
              </a:lnSpc>
            </a:pPr>
            <a:r>
              <a:rPr lang="en-US" b="true" sz="344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Planificación Y EDT/WBS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1048578" y="6886784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09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068323" y="6953664"/>
            <a:ext cx="6219677" cy="55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98"/>
              </a:lnSpc>
            </a:pPr>
            <a:r>
              <a:rPr lang="en-US" b="true" sz="328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Plan de Trabajo y Carta Gantt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1048578" y="8324315"/>
            <a:ext cx="913778" cy="713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552"/>
              </a:lnSpc>
              <a:spcBef>
                <a:spcPct val="0"/>
              </a:spcBef>
            </a:pPr>
            <a:r>
              <a:rPr lang="en-US" b="true" sz="5141" spc="-30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10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068323" y="8310631"/>
            <a:ext cx="2511567" cy="55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98"/>
              </a:lnSpc>
            </a:pPr>
            <a:r>
              <a:rPr lang="en-US" b="true" sz="328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Conclusión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57645" y="4063964"/>
            <a:ext cx="4342073" cy="4117792"/>
            <a:chOff x="0" y="0"/>
            <a:chExt cx="1143591" cy="108452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698409" y="4063964"/>
            <a:ext cx="4342073" cy="4117792"/>
            <a:chOff x="0" y="0"/>
            <a:chExt cx="1143591" cy="108452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039172" y="4063964"/>
            <a:ext cx="4342073" cy="4117792"/>
            <a:chOff x="0" y="0"/>
            <a:chExt cx="1143591" cy="108452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143591" cy="1084521"/>
            </a:xfrm>
            <a:custGeom>
              <a:avLst/>
              <a:gdLst/>
              <a:ahLst/>
              <a:cxnLst/>
              <a:rect r="r" b="b" t="t" l="l"/>
              <a:pathLst>
                <a:path h="1084521" w="1143591">
                  <a:moveTo>
                    <a:pt x="90933" y="0"/>
                  </a:moveTo>
                  <a:lnTo>
                    <a:pt x="1052658" y="0"/>
                  </a:lnTo>
                  <a:cubicBezTo>
                    <a:pt x="1102879" y="0"/>
                    <a:pt x="1143591" y="40712"/>
                    <a:pt x="1143591" y="90933"/>
                  </a:cubicBezTo>
                  <a:lnTo>
                    <a:pt x="1143591" y="993588"/>
                  </a:lnTo>
                  <a:cubicBezTo>
                    <a:pt x="1143591" y="1043809"/>
                    <a:pt x="1102879" y="1084521"/>
                    <a:pt x="1052658" y="1084521"/>
                  </a:cubicBezTo>
                  <a:lnTo>
                    <a:pt x="90933" y="1084521"/>
                  </a:lnTo>
                  <a:cubicBezTo>
                    <a:pt x="40712" y="1084521"/>
                    <a:pt x="0" y="1043809"/>
                    <a:pt x="0" y="993588"/>
                  </a:cubicBezTo>
                  <a:lnTo>
                    <a:pt x="0" y="90933"/>
                  </a:lnTo>
                  <a:cubicBezTo>
                    <a:pt x="0" y="40712"/>
                    <a:pt x="40712" y="0"/>
                    <a:pt x="90933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1143591" cy="10368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355993" y="2899334"/>
            <a:ext cx="1604592" cy="1532385"/>
          </a:xfrm>
          <a:custGeom>
            <a:avLst/>
            <a:gdLst/>
            <a:ahLst/>
            <a:cxnLst/>
            <a:rect r="r" b="b" t="t" l="l"/>
            <a:pathLst>
              <a:path h="1532385" w="1604592">
                <a:moveTo>
                  <a:pt x="0" y="0"/>
                </a:moveTo>
                <a:lnTo>
                  <a:pt x="1604593" y="0"/>
                </a:lnTo>
                <a:lnTo>
                  <a:pt x="1604593" y="1532386"/>
                </a:lnTo>
                <a:lnTo>
                  <a:pt x="0" y="15323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true" rot="10238896">
            <a:off x="16102920" y="3117519"/>
            <a:ext cx="932334" cy="876519"/>
          </a:xfrm>
          <a:custGeom>
            <a:avLst/>
            <a:gdLst/>
            <a:ahLst/>
            <a:cxnLst/>
            <a:rect r="r" b="b" t="t" l="l"/>
            <a:pathLst>
              <a:path h="876519" w="932334">
                <a:moveTo>
                  <a:pt x="932334" y="876520"/>
                </a:moveTo>
                <a:lnTo>
                  <a:pt x="0" y="876520"/>
                </a:lnTo>
                <a:lnTo>
                  <a:pt x="0" y="0"/>
                </a:lnTo>
                <a:lnTo>
                  <a:pt x="932334" y="0"/>
                </a:lnTo>
                <a:lnTo>
                  <a:pt x="932334" y="876520"/>
                </a:lnTo>
                <a:close/>
              </a:path>
            </a:pathLst>
          </a:custGeom>
          <a:blipFill>
            <a:blip r:embed="rId4"/>
            <a:stretch>
              <a:fillRect l="0" t="0" r="-2746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130374" y="392333"/>
            <a:ext cx="10027253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¿QUÉ 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ES PITTYSOFT?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24151" y="1665961"/>
            <a:ext cx="843969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modular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esarr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ad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tral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imiza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roc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inist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onta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les de una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del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óp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513997" y="5744984"/>
            <a:ext cx="4063089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clientes, atención y procesos de venta.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530737" y="6635313"/>
            <a:ext cx="2029610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Axel Blanlot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37900" y="5766833"/>
            <a:ext cx="4063089" cy="1083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proveedores, facturas de compra y movimientos financieros.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164431" y="5823983"/>
            <a:ext cx="4063089" cy="10836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Gestión de procesos contables, plan de cuentas e información tributaria.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863029" y="7069559"/>
            <a:ext cx="2702452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Gabriel Bermar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4316848" y="9057124"/>
            <a:ext cx="9654305" cy="3642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6"/>
              </a:lnSpc>
              <a:spcBef>
                <a:spcPct val="0"/>
              </a:spcBef>
            </a:pPr>
            <a:r>
              <a:rPr lang="en-US" b="true" sz="2147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Los tres módulos forman parte de una misma solución: PittySoft.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-8721467" y="54448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1927566" y="-711260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2332554" y="4270167"/>
            <a:ext cx="2392256" cy="743556"/>
            <a:chOff x="0" y="0"/>
            <a:chExt cx="635000" cy="19736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2943850" y="4327131"/>
            <a:ext cx="1169663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</a:t>
            </a:r>
            <a:r>
              <a:rPr lang="en-US" b="true" sz="3268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518219" y="6972190"/>
            <a:ext cx="2702452" cy="717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90"/>
              </a:lnSpc>
            </a:pPr>
            <a:r>
              <a:rPr lang="en-US" sz="2064" b="tru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Responsable:</a:t>
            </a:r>
          </a:p>
          <a:p>
            <a:pPr algn="ctr" marL="0" indent="0" lvl="0">
              <a:lnSpc>
                <a:spcPts val="2890"/>
              </a:lnSpc>
              <a:spcBef>
                <a:spcPct val="0"/>
              </a:spcBef>
            </a:pPr>
            <a:r>
              <a:rPr lang="en-US" b="true" sz="2064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Sebastian Quezada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867193" y="5083907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Punt</a:t>
            </a:r>
            <a:r>
              <a:rPr lang="en-US" b="true" sz="2600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de Venta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7673317" y="4270167"/>
            <a:ext cx="2392256" cy="743556"/>
            <a:chOff x="0" y="0"/>
            <a:chExt cx="635000" cy="197369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7933240" y="4327131"/>
            <a:ext cx="1872410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SAP-lite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7191096" y="5156598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Control de Gestión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535906" y="5156598"/>
            <a:ext cx="3356698" cy="448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Contabilidad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2999848" y="4270167"/>
            <a:ext cx="2392256" cy="743556"/>
            <a:chOff x="0" y="0"/>
            <a:chExt cx="635000" cy="197369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63208" y="0"/>
                  </a:moveTo>
                  <a:lnTo>
                    <a:pt x="571792" y="0"/>
                  </a:lnTo>
                  <a:cubicBezTo>
                    <a:pt x="588556" y="0"/>
                    <a:pt x="604633" y="6659"/>
                    <a:pt x="616487" y="18513"/>
                  </a:cubicBezTo>
                  <a:cubicBezTo>
                    <a:pt x="628341" y="30367"/>
                    <a:pt x="635000" y="46444"/>
                    <a:pt x="635000" y="63208"/>
                  </a:cubicBezTo>
                  <a:lnTo>
                    <a:pt x="635000" y="134162"/>
                  </a:lnTo>
                  <a:cubicBezTo>
                    <a:pt x="635000" y="150925"/>
                    <a:pt x="628341" y="167002"/>
                    <a:pt x="616487" y="178856"/>
                  </a:cubicBezTo>
                  <a:cubicBezTo>
                    <a:pt x="604633" y="190710"/>
                    <a:pt x="588556" y="197369"/>
                    <a:pt x="571792" y="197369"/>
                  </a:cubicBezTo>
                  <a:lnTo>
                    <a:pt x="63208" y="197369"/>
                  </a:lnTo>
                  <a:cubicBezTo>
                    <a:pt x="46444" y="197369"/>
                    <a:pt x="30367" y="190710"/>
                    <a:pt x="18513" y="178856"/>
                  </a:cubicBezTo>
                  <a:cubicBezTo>
                    <a:pt x="6659" y="167002"/>
                    <a:pt x="0" y="150925"/>
                    <a:pt x="0" y="134162"/>
                  </a:cubicBezTo>
                  <a:lnTo>
                    <a:pt x="0" y="63208"/>
                  </a:lnTo>
                  <a:cubicBezTo>
                    <a:pt x="0" y="46444"/>
                    <a:pt x="6659" y="30367"/>
                    <a:pt x="18513" y="18513"/>
                  </a:cubicBezTo>
                  <a:cubicBezTo>
                    <a:pt x="30367" y="6659"/>
                    <a:pt x="46444" y="0"/>
                    <a:pt x="6320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3274778" y="4327131"/>
            <a:ext cx="1872410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Kuentas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449037" y="3271505"/>
            <a:ext cx="4588782" cy="4588782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174869" y="205523"/>
            <a:ext cx="10027253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CONT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EXTO ACTUAL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924151" y="1591200"/>
            <a:ext cx="843969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tualmente, la 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mpre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 u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tiliza disti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plataforma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y fuen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de infor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mac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ión para gestionar sus procesos comerciales, administrativos y contables.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22797" y="4706693"/>
            <a:ext cx="4241263" cy="24985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8"/>
              </a:lnSpc>
            </a:pPr>
          </a:p>
          <a:p>
            <a:pPr algn="l" marL="476296" indent="-238148" lvl="1">
              <a:lnSpc>
                <a:spcPts val="3088"/>
              </a:lnSpc>
              <a:buFont typeface="Arial"/>
              <a:buChar char="•"/>
            </a:pPr>
            <a:r>
              <a:rPr lang="en-US" sz="22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Clientes y fichas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Recetas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Ventas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Productos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Cuentas por cobrar 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6849609" y="3271505"/>
            <a:ext cx="4588782" cy="458878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2250181" y="3271505"/>
            <a:ext cx="4588782" cy="4588782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733382" y="0"/>
                  </a:moveTo>
                  <a:lnTo>
                    <a:pt x="79418" y="0"/>
                  </a:lnTo>
                  <a:cubicBezTo>
                    <a:pt x="79418" y="43699"/>
                    <a:pt x="44079" y="79418"/>
                    <a:pt x="0" y="79418"/>
                  </a:cubicBezTo>
                  <a:lnTo>
                    <a:pt x="0" y="733382"/>
                  </a:lnTo>
                  <a:cubicBezTo>
                    <a:pt x="43699" y="733382"/>
                    <a:pt x="79418" y="768721"/>
                    <a:pt x="79418" y="812800"/>
                  </a:cubicBezTo>
                  <a:lnTo>
                    <a:pt x="733382" y="812800"/>
                  </a:lnTo>
                  <a:cubicBezTo>
                    <a:pt x="733382" y="769101"/>
                    <a:pt x="768721" y="733382"/>
                    <a:pt x="812800" y="733382"/>
                  </a:cubicBezTo>
                  <a:lnTo>
                    <a:pt x="812800" y="79418"/>
                  </a:lnTo>
                  <a:cubicBezTo>
                    <a:pt x="769101" y="79418"/>
                    <a:pt x="733382" y="44079"/>
                    <a:pt x="733382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38100" y="0"/>
              <a:ext cx="736600" cy="774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-10394155" y="-6369975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3148395" y="-1044480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802148" y="3775543"/>
            <a:ext cx="584116" cy="557831"/>
          </a:xfrm>
          <a:custGeom>
            <a:avLst/>
            <a:gdLst/>
            <a:ahLst/>
            <a:cxnLst/>
            <a:rect r="r" b="b" t="t" l="l"/>
            <a:pathLst>
              <a:path h="557831" w="584116">
                <a:moveTo>
                  <a:pt x="0" y="0"/>
                </a:moveTo>
                <a:lnTo>
                  <a:pt x="584116" y="0"/>
                </a:lnTo>
                <a:lnTo>
                  <a:pt x="584116" y="557831"/>
                </a:lnTo>
                <a:lnTo>
                  <a:pt x="0" y="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7170858" y="3730700"/>
            <a:ext cx="537808" cy="545998"/>
          </a:xfrm>
          <a:custGeom>
            <a:avLst/>
            <a:gdLst/>
            <a:ahLst/>
            <a:cxnLst/>
            <a:rect r="r" b="b" t="t" l="l"/>
            <a:pathLst>
              <a:path h="545998" w="537808">
                <a:moveTo>
                  <a:pt x="0" y="0"/>
                </a:moveTo>
                <a:lnTo>
                  <a:pt x="537808" y="0"/>
                </a:lnTo>
                <a:lnTo>
                  <a:pt x="537808" y="545998"/>
                </a:lnTo>
                <a:lnTo>
                  <a:pt x="0" y="5459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914766" y="3662014"/>
            <a:ext cx="621867" cy="683370"/>
          </a:xfrm>
          <a:custGeom>
            <a:avLst/>
            <a:gdLst/>
            <a:ahLst/>
            <a:cxnLst/>
            <a:rect r="r" b="b" t="t" l="l"/>
            <a:pathLst>
              <a:path h="683370" w="621867">
                <a:moveTo>
                  <a:pt x="0" y="0"/>
                </a:moveTo>
                <a:lnTo>
                  <a:pt x="621867" y="0"/>
                </a:lnTo>
                <a:lnTo>
                  <a:pt x="621867" y="683370"/>
                </a:lnTo>
                <a:lnTo>
                  <a:pt x="0" y="68337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13457691" y="3764744"/>
            <a:ext cx="3298445" cy="522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8"/>
              </a:lnSpc>
              <a:spcBef>
                <a:spcPct val="0"/>
              </a:spcBef>
            </a:pPr>
            <a:r>
              <a:rPr lang="en-US" b="true" sz="3062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contable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2419466" y="5383998"/>
            <a:ext cx="4241263" cy="1234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Procesos contables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Plan de cuentas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Registros financieros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567600" y="3785394"/>
            <a:ext cx="3047542" cy="5222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288"/>
              </a:lnSpc>
              <a:spcBef>
                <a:spcPct val="0"/>
              </a:spcBef>
            </a:pPr>
            <a:r>
              <a:rPr lang="en-US" b="true" sz="3062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comercial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7719185" y="3775069"/>
            <a:ext cx="3719206" cy="5016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097"/>
              </a:lnSpc>
              <a:spcBef>
                <a:spcPct val="0"/>
              </a:spcBef>
            </a:pPr>
            <a:r>
              <a:rPr lang="en-US" b="true" sz="2926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Área administrativa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7279536" y="5383998"/>
            <a:ext cx="3817918" cy="8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MasContable</a:t>
            </a:r>
          </a:p>
          <a:p>
            <a:pPr algn="l" marL="519475" indent="-259737" lvl="1">
              <a:lnSpc>
                <a:spcPts val="3368"/>
              </a:lnSpc>
              <a:buFont typeface="Arial"/>
              <a:buChar char="•"/>
            </a:pPr>
            <a:r>
              <a:rPr lang="en-US" sz="2406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MasRemuneraciones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871714" y="8136511"/>
            <a:ext cx="374342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BS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ale, Excel, sistema de cita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ra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documen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tos físicos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305951" y="4500319"/>
            <a:ext cx="1111250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OPTOL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8317468" y="4492064"/>
            <a:ext cx="1653064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MasTecno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272286" y="8136511"/>
            <a:ext cx="3743428" cy="1126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ancos, cartolas, Excel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, PDF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y documentación física.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72858" y="8136511"/>
            <a:ext cx="3743428" cy="364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009"/>
              </a:lnSpc>
              <a:spcBef>
                <a:spcPct val="0"/>
              </a:spcBef>
            </a:pPr>
            <a:r>
              <a:rPr lang="en-US" b="true" sz="21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SII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e 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inf</a:t>
            </a:r>
            <a:r>
              <a:rPr lang="en-US" b="true" sz="2149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ormación tributaria.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3466977" y="4500319"/>
            <a:ext cx="2155190" cy="4483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</a:pPr>
            <a:r>
              <a:rPr lang="en-US" sz="2600" b="true">
                <a:solidFill>
                  <a:srgbClr val="185079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MasContable</a:t>
            </a:r>
          </a:p>
        </p:txBody>
      </p:sp>
      <p:sp>
        <p:nvSpPr>
          <p:cNvPr name="Freeform 31" id="31"/>
          <p:cNvSpPr/>
          <p:nvPr/>
        </p:nvSpPr>
        <p:spPr>
          <a:xfrm flipH="false" flipV="false" rot="0">
            <a:off x="12047991" y="-6471760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-886757" y="4390981"/>
            <a:ext cx="20061513" cy="0"/>
          </a:xfrm>
          <a:prstGeom prst="line">
            <a:avLst/>
          </a:prstGeom>
          <a:ln cap="flat" w="28575">
            <a:solidFill>
              <a:srgbClr val="185079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" id="4"/>
          <p:cNvGrpSpPr/>
          <p:nvPr/>
        </p:nvGrpSpPr>
        <p:grpSpPr>
          <a:xfrm rot="0">
            <a:off x="2542806" y="4211205"/>
            <a:ext cx="359553" cy="359553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983273" y="4230255"/>
            <a:ext cx="359553" cy="35955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777248" y="4230255"/>
            <a:ext cx="359553" cy="359553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523042" y="124802"/>
                  </a:lnTo>
                  <a:lnTo>
                    <a:pt x="693768" y="119032"/>
                  </a:lnTo>
                  <a:lnTo>
                    <a:pt x="687998" y="289758"/>
                  </a:lnTo>
                  <a:lnTo>
                    <a:pt x="812800" y="406400"/>
                  </a:lnTo>
                  <a:lnTo>
                    <a:pt x="687998" y="523042"/>
                  </a:lnTo>
                  <a:lnTo>
                    <a:pt x="693768" y="693768"/>
                  </a:lnTo>
                  <a:lnTo>
                    <a:pt x="523042" y="687998"/>
                  </a:lnTo>
                  <a:lnTo>
                    <a:pt x="406400" y="812800"/>
                  </a:lnTo>
                  <a:lnTo>
                    <a:pt x="289758" y="687998"/>
                  </a:lnTo>
                  <a:lnTo>
                    <a:pt x="119032" y="693768"/>
                  </a:lnTo>
                  <a:lnTo>
                    <a:pt x="124802" y="523042"/>
                  </a:lnTo>
                  <a:lnTo>
                    <a:pt x="0" y="406400"/>
                  </a:lnTo>
                  <a:lnTo>
                    <a:pt x="124802" y="289758"/>
                  </a:lnTo>
                  <a:lnTo>
                    <a:pt x="119032" y="119032"/>
                  </a:lnTo>
                  <a:lnTo>
                    <a:pt x="289758" y="124802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127000" y="174625"/>
              <a:ext cx="558800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3477421" y="253889"/>
            <a:ext cx="11333159" cy="1111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ANÁLI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SIS INICIAL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-9829102" y="-6787619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8"/>
                </a:lnTo>
                <a:lnTo>
                  <a:pt x="0" y="1357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2590982" y="-959531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39474" y="5157632"/>
            <a:ext cx="3501141" cy="513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0"/>
              </a:lnSpc>
            </a:pPr>
            <a:r>
              <a:rPr lang="en-US" b="true" sz="3777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01. Comercial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08064" y="5010029"/>
            <a:ext cx="4350420" cy="51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377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02. Administrativo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203548" y="4950641"/>
            <a:ext cx="3214063" cy="510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93"/>
              </a:lnSpc>
            </a:pPr>
            <a:r>
              <a:rPr lang="en-US" b="true" sz="377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03. Contable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39474" y="5853642"/>
            <a:ext cx="4629489" cy="325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Digitación manual de información.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Uso complementario de Excel y documentos físicos.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Consulta de distintas fuentes durante la atención.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agilizar la atención al cliente.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367278" y="1415761"/>
            <a:ext cx="7553444" cy="112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3"/>
              </a:lnSpc>
            </a:pPr>
            <a:r>
              <a:rPr lang="en-US" b="true" sz="20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2049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partir del levantamiento realizado con usuarios vinculados a los distintos procesos, identificamos oportunidades de mejora en las tres áreas del proyecto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553430" y="-833866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6808064" y="5853642"/>
            <a:ext cx="4629489" cy="325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Revisión manual de cartolas y movimientos.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Cruce de información entre facturas, pagos y registros.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Uso de Excel, PDF y documentación de respaldo.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mejorar trazabilidad y control.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590982" y="5708526"/>
            <a:ext cx="4629489" cy="36625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Necesidad de mantener consistencia contable y tributaria.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Importancia de una estructura definida del plan de cuentas.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Procesos relacionados con información del SII.</a:t>
            </a:r>
          </a:p>
          <a:p>
            <a:pPr algn="l" marL="473474" indent="-236737" lvl="1">
              <a:lnSpc>
                <a:spcPts val="3267"/>
              </a:lnSpc>
              <a:buFont typeface="Arial"/>
              <a:buChar char="•"/>
            </a:pPr>
            <a:r>
              <a:rPr lang="en-US" sz="219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Oportunidad de aumentar integración y control.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597788" y="521599"/>
            <a:ext cx="13092424" cy="1109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OBJ</a:t>
            </a:r>
            <a:r>
              <a:rPr lang="en-US" b="true" sz="7917" spc="-467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ETIVOS DEL PROYECTO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7163618" y="5639669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835124" y="-732098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8"/>
                </a:lnTo>
                <a:lnTo>
                  <a:pt x="0" y="135752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3395262" y="1891337"/>
            <a:ext cx="11497475" cy="1304983"/>
            <a:chOff x="0" y="0"/>
            <a:chExt cx="3028142" cy="34369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028142" cy="343699"/>
            </a:xfrm>
            <a:custGeom>
              <a:avLst/>
              <a:gdLst/>
              <a:ahLst/>
              <a:cxnLst/>
              <a:rect r="r" b="b" t="t" l="l"/>
              <a:pathLst>
                <a:path h="343699" w="3028142">
                  <a:moveTo>
                    <a:pt x="34341" y="0"/>
                  </a:moveTo>
                  <a:lnTo>
                    <a:pt x="2993800" y="0"/>
                  </a:lnTo>
                  <a:cubicBezTo>
                    <a:pt x="3002908" y="0"/>
                    <a:pt x="3011643" y="3618"/>
                    <a:pt x="3018083" y="10058"/>
                  </a:cubicBezTo>
                  <a:cubicBezTo>
                    <a:pt x="3024524" y="16499"/>
                    <a:pt x="3028142" y="25233"/>
                    <a:pt x="3028142" y="34341"/>
                  </a:cubicBezTo>
                  <a:lnTo>
                    <a:pt x="3028142" y="309358"/>
                  </a:lnTo>
                  <a:cubicBezTo>
                    <a:pt x="3028142" y="318466"/>
                    <a:pt x="3024524" y="327201"/>
                    <a:pt x="3018083" y="333641"/>
                  </a:cubicBezTo>
                  <a:cubicBezTo>
                    <a:pt x="3011643" y="340081"/>
                    <a:pt x="3002908" y="343699"/>
                    <a:pt x="2993800" y="343699"/>
                  </a:cubicBezTo>
                  <a:lnTo>
                    <a:pt x="34341" y="343699"/>
                  </a:lnTo>
                  <a:cubicBezTo>
                    <a:pt x="25233" y="343699"/>
                    <a:pt x="16499" y="340081"/>
                    <a:pt x="10058" y="333641"/>
                  </a:cubicBezTo>
                  <a:cubicBezTo>
                    <a:pt x="3618" y="327201"/>
                    <a:pt x="0" y="318466"/>
                    <a:pt x="0" y="309358"/>
                  </a:cubicBezTo>
                  <a:lnTo>
                    <a:pt x="0" y="34341"/>
                  </a:lnTo>
                  <a:cubicBezTo>
                    <a:pt x="0" y="25233"/>
                    <a:pt x="3618" y="16499"/>
                    <a:pt x="10058" y="10058"/>
                  </a:cubicBezTo>
                  <a:cubicBezTo>
                    <a:pt x="16499" y="3618"/>
                    <a:pt x="25233" y="0"/>
                    <a:pt x="34341" y="0"/>
                  </a:cubicBezTo>
                  <a:close/>
                </a:path>
              </a:pathLst>
            </a:custGeom>
            <a:solidFill>
              <a:srgbClr val="C8D1D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3028142" cy="3436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026718" y="4540394"/>
            <a:ext cx="3366341" cy="2198550"/>
            <a:chOff x="0" y="0"/>
            <a:chExt cx="886608" cy="57904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86608" cy="579042"/>
            </a:xfrm>
            <a:custGeom>
              <a:avLst/>
              <a:gdLst/>
              <a:ahLst/>
              <a:cxnLst/>
              <a:rect r="r" b="b" t="t" l="l"/>
              <a:pathLst>
                <a:path h="579042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461752"/>
                  </a:lnTo>
                  <a:cubicBezTo>
                    <a:pt x="886608" y="526530"/>
                    <a:pt x="834096" y="579042"/>
                    <a:pt x="769318" y="579042"/>
                  </a:cubicBezTo>
                  <a:lnTo>
                    <a:pt x="117290" y="579042"/>
                  </a:lnTo>
                  <a:cubicBezTo>
                    <a:pt x="52512" y="579042"/>
                    <a:pt x="0" y="526530"/>
                    <a:pt x="0" y="461752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886608" cy="531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01 — Analizar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Procesos actuales y requerimientos de los usuarios.</a:t>
              </a: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 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353462" y="3548056"/>
            <a:ext cx="2712853" cy="743556"/>
            <a:chOff x="0" y="0"/>
            <a:chExt cx="720099" cy="19736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2026718" y="6986594"/>
            <a:ext cx="3366341" cy="2770050"/>
            <a:chOff x="0" y="0"/>
            <a:chExt cx="886608" cy="72956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86608" cy="729561"/>
            </a:xfrm>
            <a:custGeom>
              <a:avLst/>
              <a:gdLst/>
              <a:ahLst/>
              <a:cxnLst/>
              <a:rect r="r" b="b" t="t" l="l"/>
              <a:pathLst>
                <a:path h="72956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612271"/>
                  </a:lnTo>
                  <a:cubicBezTo>
                    <a:pt x="886608" y="677048"/>
                    <a:pt x="834096" y="729561"/>
                    <a:pt x="769318" y="729561"/>
                  </a:cubicBezTo>
                  <a:lnTo>
                    <a:pt x="117290" y="729561"/>
                  </a:lnTo>
                  <a:cubicBezTo>
                    <a:pt x="52512" y="729561"/>
                    <a:pt x="0" y="677048"/>
                    <a:pt x="0" y="61227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47625"/>
              <a:ext cx="886608" cy="6819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02 — Desarrollar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módulos SAP-lite, POS y Kuentas según las especificaciones definidas.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554383" y="4540394"/>
            <a:ext cx="3366341" cy="2770050"/>
            <a:chOff x="0" y="0"/>
            <a:chExt cx="886608" cy="729561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86608" cy="729561"/>
            </a:xfrm>
            <a:custGeom>
              <a:avLst/>
              <a:gdLst/>
              <a:ahLst/>
              <a:cxnLst/>
              <a:rect r="r" b="b" t="t" l="l"/>
              <a:pathLst>
                <a:path h="72956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612271"/>
                  </a:lnTo>
                  <a:cubicBezTo>
                    <a:pt x="886608" y="677048"/>
                    <a:pt x="834096" y="729561"/>
                    <a:pt x="769318" y="729561"/>
                  </a:cubicBezTo>
                  <a:lnTo>
                    <a:pt x="117290" y="729561"/>
                  </a:lnTo>
                  <a:cubicBezTo>
                    <a:pt x="52512" y="729561"/>
                    <a:pt x="0" y="677048"/>
                    <a:pt x="0" y="61227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47625"/>
              <a:ext cx="886608" cy="6819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03 — Diseñar e implementar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modelos de datos necesarios para soportar la solución.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881127" y="3548056"/>
            <a:ext cx="2712853" cy="743556"/>
            <a:chOff x="0" y="0"/>
            <a:chExt cx="720099" cy="197369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3082048" y="4540394"/>
            <a:ext cx="3366341" cy="2341425"/>
            <a:chOff x="0" y="0"/>
            <a:chExt cx="886608" cy="616672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86608" cy="616672"/>
            </a:xfrm>
            <a:custGeom>
              <a:avLst/>
              <a:gdLst/>
              <a:ahLst/>
              <a:cxnLst/>
              <a:rect r="r" b="b" t="t" l="l"/>
              <a:pathLst>
                <a:path h="616672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499382"/>
                  </a:lnTo>
                  <a:cubicBezTo>
                    <a:pt x="886608" y="564159"/>
                    <a:pt x="834096" y="616672"/>
                    <a:pt x="769318" y="616672"/>
                  </a:cubicBezTo>
                  <a:lnTo>
                    <a:pt x="117290" y="616672"/>
                  </a:lnTo>
                  <a:cubicBezTo>
                    <a:pt x="52512" y="616672"/>
                    <a:pt x="0" y="564159"/>
                    <a:pt x="0" y="499382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47625"/>
              <a:ext cx="886608" cy="56904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060"/>
                </a:lnSpc>
              </a:pPr>
              <a:r>
                <a:rPr lang="en-US" b="true" sz="2000" spc="142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04 — Validar y mejorar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060"/>
                </a:lnSpc>
              </a:pPr>
              <a:r>
                <a:rPr lang="en-US" sz="2000" spc="142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Diseñar y e</a:t>
              </a:r>
              <a:r>
                <a:rPr lang="en-US" sz="2000" spc="142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jecutar pruebas, aplicando las correcciones y mejoras identificadas.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3408792" y="3548056"/>
            <a:ext cx="2712853" cy="743556"/>
            <a:chOff x="0" y="0"/>
            <a:chExt cx="720099" cy="19736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720099" cy="197369"/>
            </a:xfrm>
            <a:custGeom>
              <a:avLst/>
              <a:gdLst/>
              <a:ahLst/>
              <a:cxnLst/>
              <a:rect r="r" b="b" t="t" l="l"/>
              <a:pathLst>
                <a:path h="197369" w="720099">
                  <a:moveTo>
                    <a:pt x="55738" y="0"/>
                  </a:moveTo>
                  <a:lnTo>
                    <a:pt x="664361" y="0"/>
                  </a:lnTo>
                  <a:cubicBezTo>
                    <a:pt x="695145" y="0"/>
                    <a:pt x="720099" y="24955"/>
                    <a:pt x="720099" y="55738"/>
                  </a:cubicBezTo>
                  <a:lnTo>
                    <a:pt x="720099" y="141631"/>
                  </a:lnTo>
                  <a:cubicBezTo>
                    <a:pt x="720099" y="172415"/>
                    <a:pt x="695145" y="197369"/>
                    <a:pt x="664361" y="197369"/>
                  </a:cubicBezTo>
                  <a:lnTo>
                    <a:pt x="55738" y="197369"/>
                  </a:lnTo>
                  <a:cubicBezTo>
                    <a:pt x="24955" y="197369"/>
                    <a:pt x="0" y="172415"/>
                    <a:pt x="0" y="141631"/>
                  </a:cubicBezTo>
                  <a:lnTo>
                    <a:pt x="0" y="55738"/>
                  </a:lnTo>
                  <a:cubicBezTo>
                    <a:pt x="0" y="24955"/>
                    <a:pt x="24955" y="0"/>
                    <a:pt x="55738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720099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3082048" y="6986594"/>
            <a:ext cx="3366341" cy="2484300"/>
            <a:chOff x="0" y="0"/>
            <a:chExt cx="886608" cy="654301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86608" cy="654301"/>
            </a:xfrm>
            <a:custGeom>
              <a:avLst/>
              <a:gdLst/>
              <a:ahLst/>
              <a:cxnLst/>
              <a:rect r="r" b="b" t="t" l="l"/>
              <a:pathLst>
                <a:path h="654301" w="886608">
                  <a:moveTo>
                    <a:pt x="117290" y="0"/>
                  </a:moveTo>
                  <a:lnTo>
                    <a:pt x="769318" y="0"/>
                  </a:lnTo>
                  <a:cubicBezTo>
                    <a:pt x="800426" y="0"/>
                    <a:pt x="830259" y="12357"/>
                    <a:pt x="852255" y="34353"/>
                  </a:cubicBezTo>
                  <a:cubicBezTo>
                    <a:pt x="874251" y="56350"/>
                    <a:pt x="886608" y="86183"/>
                    <a:pt x="886608" y="117290"/>
                  </a:cubicBezTo>
                  <a:lnTo>
                    <a:pt x="886608" y="537011"/>
                  </a:lnTo>
                  <a:cubicBezTo>
                    <a:pt x="886608" y="601789"/>
                    <a:pt x="834096" y="654301"/>
                    <a:pt x="769318" y="654301"/>
                  </a:cubicBezTo>
                  <a:lnTo>
                    <a:pt x="117290" y="654301"/>
                  </a:lnTo>
                  <a:cubicBezTo>
                    <a:pt x="52512" y="654301"/>
                    <a:pt x="0" y="601789"/>
                    <a:pt x="0" y="537011"/>
                  </a:cubicBezTo>
                  <a:lnTo>
                    <a:pt x="0" y="117290"/>
                  </a:lnTo>
                  <a:cubicBezTo>
                    <a:pt x="0" y="52512"/>
                    <a:pt x="52512" y="0"/>
                    <a:pt x="117290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47625"/>
              <a:ext cx="886608" cy="6066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185079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05 — Integrar</a:t>
              </a:r>
            </a:p>
            <a:p>
              <a:pPr algn="ctr">
                <a:lnSpc>
                  <a:spcPts val="2266"/>
                </a:lnSpc>
              </a:pPr>
            </a:p>
            <a:p>
              <a:pPr algn="ctr">
                <a:lnSpc>
                  <a:spcPts val="2266"/>
                </a:lnSpc>
              </a:pP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Los componentes desarrollados en un entorno de validación.</a:t>
              </a:r>
              <a:r>
                <a:rPr lang="en-US" sz="2200" spc="156">
                  <a:solidFill>
                    <a:srgbClr val="185079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5747360" y="3716453"/>
            <a:ext cx="1452722" cy="406762"/>
          </a:xfrm>
          <a:custGeom>
            <a:avLst/>
            <a:gdLst/>
            <a:ahLst/>
            <a:cxnLst/>
            <a:rect r="r" b="b" t="t" l="l"/>
            <a:pathLst>
              <a:path h="406762" w="1452722">
                <a:moveTo>
                  <a:pt x="0" y="0"/>
                </a:moveTo>
                <a:lnTo>
                  <a:pt x="1452722" y="0"/>
                </a:lnTo>
                <a:lnTo>
                  <a:pt x="1452722" y="406762"/>
                </a:lnTo>
                <a:lnTo>
                  <a:pt x="0" y="4067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4058527" y="2087419"/>
            <a:ext cx="10358053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uci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so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war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modular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qu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ali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opt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zar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proc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sos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strati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s,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iale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conta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b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edia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te 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 m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ó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dul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POS,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SAP-l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ite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y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</a:t>
            </a:r>
            <a:r>
              <a:rPr lang="en-US" b="true" sz="18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uentas.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2819409" y="3605019"/>
            <a:ext cx="1780959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Análisis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8114101" y="3605019"/>
            <a:ext cx="2246906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Desarrollo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3641765" y="3605019"/>
            <a:ext cx="2246906" cy="562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4575"/>
              </a:lnSpc>
              <a:spcBef>
                <a:spcPct val="0"/>
              </a:spcBef>
            </a:pPr>
            <a:r>
              <a:rPr lang="en-US" b="true" sz="3268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Validación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1391512" y="3716453"/>
            <a:ext cx="1452722" cy="406762"/>
          </a:xfrm>
          <a:custGeom>
            <a:avLst/>
            <a:gdLst/>
            <a:ahLst/>
            <a:cxnLst/>
            <a:rect r="r" b="b" t="t" l="l"/>
            <a:pathLst>
              <a:path h="406762" w="1452722">
                <a:moveTo>
                  <a:pt x="0" y="0"/>
                </a:moveTo>
                <a:lnTo>
                  <a:pt x="1452722" y="0"/>
                </a:lnTo>
                <a:lnTo>
                  <a:pt x="1452722" y="406762"/>
                </a:lnTo>
                <a:lnTo>
                  <a:pt x="0" y="4067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909084" y="2508950"/>
            <a:ext cx="4835491" cy="6868970"/>
            <a:chOff x="0" y="0"/>
            <a:chExt cx="1273545" cy="18091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786832" y="2508950"/>
            <a:ext cx="4835491" cy="6868970"/>
            <a:chOff x="0" y="0"/>
            <a:chExt cx="1273545" cy="1809111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664580" y="2508950"/>
            <a:ext cx="4835491" cy="6868970"/>
            <a:chOff x="0" y="0"/>
            <a:chExt cx="1273545" cy="18091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73545" cy="1809111"/>
            </a:xfrm>
            <a:custGeom>
              <a:avLst/>
              <a:gdLst/>
              <a:ahLst/>
              <a:cxnLst/>
              <a:rect r="r" b="b" t="t" l="l"/>
              <a:pathLst>
                <a:path h="1809111" w="1273545">
                  <a:moveTo>
                    <a:pt x="81654" y="0"/>
                  </a:moveTo>
                  <a:lnTo>
                    <a:pt x="1191891" y="0"/>
                  </a:lnTo>
                  <a:cubicBezTo>
                    <a:pt x="1213547" y="0"/>
                    <a:pt x="1234316" y="8603"/>
                    <a:pt x="1249629" y="23916"/>
                  </a:cubicBezTo>
                  <a:cubicBezTo>
                    <a:pt x="1264942" y="39229"/>
                    <a:pt x="1273545" y="59998"/>
                    <a:pt x="1273545" y="81654"/>
                  </a:cubicBezTo>
                  <a:lnTo>
                    <a:pt x="1273545" y="1727457"/>
                  </a:lnTo>
                  <a:cubicBezTo>
                    <a:pt x="1273545" y="1749113"/>
                    <a:pt x="1264942" y="1769882"/>
                    <a:pt x="1249629" y="1785195"/>
                  </a:cubicBezTo>
                  <a:cubicBezTo>
                    <a:pt x="1234316" y="1800509"/>
                    <a:pt x="1213547" y="1809111"/>
                    <a:pt x="1191891" y="1809111"/>
                  </a:cubicBezTo>
                  <a:lnTo>
                    <a:pt x="81654" y="1809111"/>
                  </a:lnTo>
                  <a:cubicBezTo>
                    <a:pt x="59998" y="1809111"/>
                    <a:pt x="39229" y="1800509"/>
                    <a:pt x="23916" y="1785195"/>
                  </a:cubicBezTo>
                  <a:cubicBezTo>
                    <a:pt x="8603" y="1769882"/>
                    <a:pt x="0" y="1749113"/>
                    <a:pt x="0" y="1727457"/>
                  </a:cubicBezTo>
                  <a:lnTo>
                    <a:pt x="0" y="81654"/>
                  </a:lnTo>
                  <a:cubicBezTo>
                    <a:pt x="0" y="59998"/>
                    <a:pt x="8603" y="39229"/>
                    <a:pt x="23916" y="23916"/>
                  </a:cubicBezTo>
                  <a:cubicBezTo>
                    <a:pt x="39229" y="8603"/>
                    <a:pt x="59998" y="0"/>
                    <a:pt x="81654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1273545" cy="17614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2957552" y="2926969"/>
            <a:ext cx="738553" cy="720089"/>
          </a:xfrm>
          <a:custGeom>
            <a:avLst/>
            <a:gdLst/>
            <a:ahLst/>
            <a:cxnLst/>
            <a:rect r="r" b="b" t="t" l="l"/>
            <a:pathLst>
              <a:path h="720089" w="738553">
                <a:moveTo>
                  <a:pt x="0" y="0"/>
                </a:moveTo>
                <a:lnTo>
                  <a:pt x="738553" y="0"/>
                </a:lnTo>
                <a:lnTo>
                  <a:pt x="738553" y="720089"/>
                </a:lnTo>
                <a:lnTo>
                  <a:pt x="0" y="72008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3" id="13"/>
          <p:cNvSpPr/>
          <p:nvPr/>
        </p:nvSpPr>
        <p:spPr>
          <a:xfrm flipH="false" flipV="false" rot="0">
            <a:off x="8802995" y="2926969"/>
            <a:ext cx="682010" cy="685437"/>
          </a:xfrm>
          <a:custGeom>
            <a:avLst/>
            <a:gdLst/>
            <a:ahLst/>
            <a:cxnLst/>
            <a:rect r="r" b="b" t="t" l="l"/>
            <a:pathLst>
              <a:path h="685437" w="682010">
                <a:moveTo>
                  <a:pt x="0" y="0"/>
                </a:moveTo>
                <a:lnTo>
                  <a:pt x="682010" y="0"/>
                </a:lnTo>
                <a:lnTo>
                  <a:pt x="682010" y="685438"/>
                </a:lnTo>
                <a:lnTo>
                  <a:pt x="0" y="68543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4772631" y="2897514"/>
            <a:ext cx="828723" cy="778999"/>
          </a:xfrm>
          <a:custGeom>
            <a:avLst/>
            <a:gdLst/>
            <a:ahLst/>
            <a:cxnLst/>
            <a:rect r="r" b="b" t="t" l="l"/>
            <a:pathLst>
              <a:path h="778999" w="828723">
                <a:moveTo>
                  <a:pt x="0" y="0"/>
                </a:moveTo>
                <a:lnTo>
                  <a:pt x="828722" y="0"/>
                </a:lnTo>
                <a:lnTo>
                  <a:pt x="828722" y="778999"/>
                </a:lnTo>
                <a:lnTo>
                  <a:pt x="0" y="77899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4268008" y="237188"/>
            <a:ext cx="9751984" cy="791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23"/>
              </a:lnSpc>
              <a:spcBef>
                <a:spcPct val="0"/>
              </a:spcBef>
            </a:pPr>
            <a:r>
              <a:rPr lang="en-US" b="true" sz="5577" spc="-32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FACTIBIL</a:t>
            </a:r>
            <a:r>
              <a:rPr lang="en-US" b="true" sz="5577" spc="-329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IDAD DEL PROYECTO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35594" y="3695563"/>
            <a:ext cx="3382469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Técnica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423630" y="3695563"/>
            <a:ext cx="3561894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Operativa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3241572" y="3695563"/>
            <a:ext cx="3890839" cy="41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b="true" sz="2894" spc="-17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Factibil</a:t>
            </a:r>
            <a:r>
              <a:rPr lang="en-US" b="true" sz="2894" spc="-17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idad Económica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35594" y="4535758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equipo domina el stack tecnologico seleccionado (lenguajes, frameworks y base de datos). Contamos con la infraestructura de desarrollo y entornos de prueba necesarios para la implementación.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513342" y="4628350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alcance del proyecto (3 módulos específicos) está correctamente dimensionado para ser ejecutado dentro de las 18 semanas, alineado con las capacidades y roles del equipo  de desarrollo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391091" y="4535758"/>
            <a:ext cx="3382469" cy="43208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25"/>
              </a:lnSpc>
              <a:spcBef>
                <a:spcPct val="0"/>
              </a:spcBef>
            </a:pPr>
            <a:r>
              <a:rPr lang="en-US" sz="2894" spc="-170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 proyecto se desarrolla utilizando recursos académicos y herramientas  open-source o de licencias estudiantiles, por lo que no requiere inversión de captial externo para su fase  de construcción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2720270" y="1306146"/>
          <a:ext cx="14731420" cy="8401050"/>
        </p:xfrm>
        <a:graphic>
          <a:graphicData uri="http://schemas.openxmlformats.org/drawingml/2006/table">
            <a:tbl>
              <a:tblPr/>
              <a:tblGrid>
                <a:gridCol w="2990236"/>
                <a:gridCol w="11741184"/>
              </a:tblGrid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Tecnología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FD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 b="true">
                          <a:solidFill>
                            <a:srgbClr val="000000"/>
                          </a:solidFill>
                          <a:latin typeface="Open Sauce Bold"/>
                          <a:ea typeface="Open Sauce Bold"/>
                          <a:cs typeface="Open Sauce Bold"/>
                          <a:sym typeface="Open Sauce Bold"/>
                        </a:rPr>
                        <a:t>Uso en PittySoft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FD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Vue 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Frontend / interfaz web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TypeScript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Lenguaje utilizado en frontend y backend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Vite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Construcción y entorno del frontend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Tailwind CSS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Estilos de la interfaz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NestJS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Framework del backend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Prisma ORM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Acceso y gestión de la base de datos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PostgreSQL 15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Base de datos principal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80374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Redis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Caché / almacenamiento temporal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  <a:tr h="116734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Google Cloud Platform (GCP)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890"/>
                        </a:lnSpc>
                        <a:defRPr/>
                      </a:pPr>
                      <a:r>
                        <a:rPr lang="en-US" sz="2064">
                          <a:solidFill>
                            <a:srgbClr val="000000"/>
                          </a:solidFill>
                          <a:latin typeface="Open Sauce"/>
                          <a:ea typeface="Open Sauce"/>
                          <a:cs typeface="Open Sauce"/>
                          <a:sym typeface="Open Sauce"/>
                        </a:rPr>
                        <a:t>Infraestructura cloud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6E1"/>
                    </a:solidFill>
                  </a:tcPr>
                </a:tc>
              </a:tr>
            </a:tbl>
          </a:graphicData>
        </a:graphic>
      </p:graphicFrame>
      <p:sp>
        <p:nvSpPr>
          <p:cNvPr name="Freeform 3" id="3"/>
          <p:cNvSpPr/>
          <p:nvPr/>
        </p:nvSpPr>
        <p:spPr>
          <a:xfrm flipH="false" flipV="false" rot="0">
            <a:off x="2000039" y="2179276"/>
            <a:ext cx="650372" cy="650372"/>
          </a:xfrm>
          <a:custGeom>
            <a:avLst/>
            <a:gdLst/>
            <a:ahLst/>
            <a:cxnLst/>
            <a:rect r="r" b="b" t="t" l="l"/>
            <a:pathLst>
              <a:path h="650372" w="650372">
                <a:moveTo>
                  <a:pt x="0" y="0"/>
                </a:moveTo>
                <a:lnTo>
                  <a:pt x="650373" y="0"/>
                </a:lnTo>
                <a:lnTo>
                  <a:pt x="650373" y="650372"/>
                </a:lnTo>
                <a:lnTo>
                  <a:pt x="0" y="6503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000039" y="3014140"/>
            <a:ext cx="580514" cy="580514"/>
          </a:xfrm>
          <a:custGeom>
            <a:avLst/>
            <a:gdLst/>
            <a:ahLst/>
            <a:cxnLst/>
            <a:rect r="r" b="b" t="t" l="l"/>
            <a:pathLst>
              <a:path h="580514" w="580514">
                <a:moveTo>
                  <a:pt x="0" y="0"/>
                </a:moveTo>
                <a:lnTo>
                  <a:pt x="580515" y="0"/>
                </a:lnTo>
                <a:lnTo>
                  <a:pt x="580515" y="580514"/>
                </a:lnTo>
                <a:lnTo>
                  <a:pt x="0" y="5805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999719" y="3775629"/>
            <a:ext cx="580835" cy="572486"/>
          </a:xfrm>
          <a:custGeom>
            <a:avLst/>
            <a:gdLst/>
            <a:ahLst/>
            <a:cxnLst/>
            <a:rect r="r" b="b" t="t" l="l"/>
            <a:pathLst>
              <a:path h="572486" w="580835">
                <a:moveTo>
                  <a:pt x="0" y="0"/>
                </a:moveTo>
                <a:lnTo>
                  <a:pt x="580835" y="0"/>
                </a:lnTo>
                <a:lnTo>
                  <a:pt x="580835" y="572486"/>
                </a:lnTo>
                <a:lnTo>
                  <a:pt x="0" y="57248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966144" y="4529090"/>
            <a:ext cx="614410" cy="614410"/>
          </a:xfrm>
          <a:custGeom>
            <a:avLst/>
            <a:gdLst/>
            <a:ahLst/>
            <a:cxnLst/>
            <a:rect r="r" b="b" t="t" l="l"/>
            <a:pathLst>
              <a:path h="614410" w="614410">
                <a:moveTo>
                  <a:pt x="0" y="0"/>
                </a:moveTo>
                <a:lnTo>
                  <a:pt x="614410" y="0"/>
                </a:lnTo>
                <a:lnTo>
                  <a:pt x="614410" y="614410"/>
                </a:lnTo>
                <a:lnTo>
                  <a:pt x="0" y="614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966144" y="5324475"/>
            <a:ext cx="606127" cy="585542"/>
          </a:xfrm>
          <a:custGeom>
            <a:avLst/>
            <a:gdLst/>
            <a:ahLst/>
            <a:cxnLst/>
            <a:rect r="r" b="b" t="t" l="l"/>
            <a:pathLst>
              <a:path h="585542" w="606127">
                <a:moveTo>
                  <a:pt x="0" y="0"/>
                </a:moveTo>
                <a:lnTo>
                  <a:pt x="606127" y="0"/>
                </a:lnTo>
                <a:lnTo>
                  <a:pt x="606127" y="585542"/>
                </a:lnTo>
                <a:lnTo>
                  <a:pt x="0" y="5855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966144" y="6090992"/>
            <a:ext cx="541371" cy="657187"/>
          </a:xfrm>
          <a:custGeom>
            <a:avLst/>
            <a:gdLst/>
            <a:ahLst/>
            <a:cxnLst/>
            <a:rect r="r" b="b" t="t" l="l"/>
            <a:pathLst>
              <a:path h="657187" w="541371">
                <a:moveTo>
                  <a:pt x="0" y="0"/>
                </a:moveTo>
                <a:lnTo>
                  <a:pt x="541371" y="0"/>
                </a:lnTo>
                <a:lnTo>
                  <a:pt x="541371" y="657186"/>
                </a:lnTo>
                <a:lnTo>
                  <a:pt x="0" y="6571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87022" y="6929153"/>
            <a:ext cx="693532" cy="715365"/>
          </a:xfrm>
          <a:custGeom>
            <a:avLst/>
            <a:gdLst/>
            <a:ahLst/>
            <a:cxnLst/>
            <a:rect r="r" b="b" t="t" l="l"/>
            <a:pathLst>
              <a:path h="715365" w="693532">
                <a:moveTo>
                  <a:pt x="0" y="0"/>
                </a:moveTo>
                <a:lnTo>
                  <a:pt x="693532" y="0"/>
                </a:lnTo>
                <a:lnTo>
                  <a:pt x="693532" y="715366"/>
                </a:lnTo>
                <a:lnTo>
                  <a:pt x="0" y="7153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887022" y="7825494"/>
            <a:ext cx="678063" cy="579580"/>
          </a:xfrm>
          <a:custGeom>
            <a:avLst/>
            <a:gdLst/>
            <a:ahLst/>
            <a:cxnLst/>
            <a:rect r="r" b="b" t="t" l="l"/>
            <a:pathLst>
              <a:path h="579580" w="678063">
                <a:moveTo>
                  <a:pt x="0" y="0"/>
                </a:moveTo>
                <a:lnTo>
                  <a:pt x="678063" y="0"/>
                </a:lnTo>
                <a:lnTo>
                  <a:pt x="678063" y="579579"/>
                </a:lnTo>
                <a:lnTo>
                  <a:pt x="0" y="5795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894654" y="8839862"/>
            <a:ext cx="685900" cy="553007"/>
          </a:xfrm>
          <a:custGeom>
            <a:avLst/>
            <a:gdLst/>
            <a:ahLst/>
            <a:cxnLst/>
            <a:rect r="r" b="b" t="t" l="l"/>
            <a:pathLst>
              <a:path h="553007" w="685900">
                <a:moveTo>
                  <a:pt x="0" y="0"/>
                </a:moveTo>
                <a:lnTo>
                  <a:pt x="685900" y="0"/>
                </a:lnTo>
                <a:lnTo>
                  <a:pt x="685900" y="553007"/>
                </a:lnTo>
                <a:lnTo>
                  <a:pt x="0" y="553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86666" y="237188"/>
            <a:ext cx="8914669" cy="791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23"/>
              </a:lnSpc>
              <a:spcBef>
                <a:spcPct val="0"/>
              </a:spcBef>
            </a:pPr>
            <a:r>
              <a:rPr lang="en-US" b="true" sz="5577" spc="-32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TECNOLOGÍAS UTILIZADAS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-8335199" y="-8738944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2376278" y="-7665222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53174" y="198583"/>
            <a:ext cx="8718743" cy="21934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550"/>
              </a:lnSpc>
              <a:spcBef>
                <a:spcPct val="0"/>
              </a:spcBef>
            </a:pPr>
            <a:r>
              <a:rPr lang="en-US" b="true" sz="7917" spc="-467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METODOLOGÍA DE TRABAJO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23270" y="2470861"/>
            <a:ext cx="3043725" cy="472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868"/>
              </a:lnSpc>
              <a:spcBef>
                <a:spcPct val="0"/>
              </a:spcBef>
            </a:pPr>
            <a:r>
              <a:rPr lang="en-US" b="true" sz="2763" u="sng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Enfoque hibrido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-9884162" y="4227983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275201" y="-772630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0758129" y="1182111"/>
            <a:ext cx="5356998" cy="7047112"/>
            <a:chOff x="0" y="0"/>
            <a:chExt cx="812800" cy="106923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1069236"/>
            </a:xfrm>
            <a:custGeom>
              <a:avLst/>
              <a:gdLst/>
              <a:ahLst/>
              <a:cxnLst/>
              <a:rect r="r" b="b" t="t" l="l"/>
              <a:pathLst>
                <a:path h="1069236" w="812800">
                  <a:moveTo>
                    <a:pt x="33240" y="0"/>
                  </a:moveTo>
                  <a:lnTo>
                    <a:pt x="779560" y="0"/>
                  </a:lnTo>
                  <a:cubicBezTo>
                    <a:pt x="797918" y="0"/>
                    <a:pt x="812800" y="14882"/>
                    <a:pt x="812800" y="33240"/>
                  </a:cubicBezTo>
                  <a:lnTo>
                    <a:pt x="812800" y="1035996"/>
                  </a:lnTo>
                  <a:cubicBezTo>
                    <a:pt x="812800" y="1054354"/>
                    <a:pt x="797918" y="1069236"/>
                    <a:pt x="779560" y="1069236"/>
                  </a:cubicBezTo>
                  <a:lnTo>
                    <a:pt x="33240" y="1069236"/>
                  </a:lnTo>
                  <a:cubicBezTo>
                    <a:pt x="14882" y="1069236"/>
                    <a:pt x="0" y="1054354"/>
                    <a:pt x="0" y="1035996"/>
                  </a:cubicBezTo>
                  <a:lnTo>
                    <a:pt x="0" y="33240"/>
                  </a:lnTo>
                  <a:cubicBezTo>
                    <a:pt x="0" y="14882"/>
                    <a:pt x="14882" y="0"/>
                    <a:pt x="33240" y="0"/>
                  </a:cubicBezTo>
                  <a:close/>
                </a:path>
              </a:pathLst>
            </a:custGeom>
            <a:blipFill>
              <a:blip r:embed="rId4"/>
              <a:stretch>
                <a:fillRect l="-60083" t="0" r="-60083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723270" y="3952116"/>
            <a:ext cx="8155112" cy="112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Spec-Driven Development (SDD):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Elegido por su trazabilidad entre requerimientos, SPEC, criterios de aceptación y funcionalidades desarrolladas.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23270" y="5325913"/>
            <a:ext cx="8155112" cy="112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Scrum — Complemento: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Incorporamos prácticas de planificación, Backlog, priorización y revisión periódica de avances.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52590" y="8864769"/>
            <a:ext cx="1727157" cy="536831"/>
            <a:chOff x="0" y="0"/>
            <a:chExt cx="635000" cy="197369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51600" y="8864769"/>
            <a:ext cx="1727157" cy="536831"/>
            <a:chOff x="0" y="0"/>
            <a:chExt cx="635000" cy="197369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550610" y="8864769"/>
            <a:ext cx="1727157" cy="536831"/>
            <a:chOff x="0" y="0"/>
            <a:chExt cx="635000" cy="19736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7849620" y="8864769"/>
            <a:ext cx="1727157" cy="536831"/>
            <a:chOff x="0" y="0"/>
            <a:chExt cx="635000" cy="19736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0148629" y="8864769"/>
            <a:ext cx="1727157" cy="536831"/>
            <a:chOff x="0" y="0"/>
            <a:chExt cx="635000" cy="19736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447639" y="8864769"/>
            <a:ext cx="1727157" cy="536831"/>
            <a:chOff x="0" y="0"/>
            <a:chExt cx="635000" cy="197369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4746649" y="8864769"/>
            <a:ext cx="1727157" cy="536831"/>
            <a:chOff x="0" y="0"/>
            <a:chExt cx="635000" cy="19736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35000" cy="197369"/>
            </a:xfrm>
            <a:custGeom>
              <a:avLst/>
              <a:gdLst/>
              <a:ahLst/>
              <a:cxnLst/>
              <a:rect r="r" b="b" t="t" l="l"/>
              <a:pathLst>
                <a:path h="197369" w="635000">
                  <a:moveTo>
                    <a:pt x="87548" y="0"/>
                  </a:moveTo>
                  <a:lnTo>
                    <a:pt x="547452" y="0"/>
                  </a:lnTo>
                  <a:cubicBezTo>
                    <a:pt x="595803" y="0"/>
                    <a:pt x="635000" y="39197"/>
                    <a:pt x="635000" y="87548"/>
                  </a:cubicBezTo>
                  <a:lnTo>
                    <a:pt x="635000" y="109821"/>
                  </a:lnTo>
                  <a:cubicBezTo>
                    <a:pt x="635000" y="158173"/>
                    <a:pt x="595803" y="197369"/>
                    <a:pt x="547452" y="197369"/>
                  </a:cubicBezTo>
                  <a:lnTo>
                    <a:pt x="87548" y="197369"/>
                  </a:lnTo>
                  <a:cubicBezTo>
                    <a:pt x="39197" y="197369"/>
                    <a:pt x="0" y="158173"/>
                    <a:pt x="0" y="109821"/>
                  </a:cubicBezTo>
                  <a:lnTo>
                    <a:pt x="0" y="87548"/>
                  </a:lnTo>
                  <a:cubicBezTo>
                    <a:pt x="0" y="39197"/>
                    <a:pt x="39197" y="0"/>
                    <a:pt x="87548" y="0"/>
                  </a:cubicBezTo>
                  <a:close/>
                </a:path>
              </a:pathLst>
            </a:custGeom>
            <a:solidFill>
              <a:srgbClr val="185079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38100"/>
              <a:ext cx="635000" cy="2354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90"/>
                </a:lnSpc>
              </a:pP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95259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Requerimiento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325160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SPEC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555061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Diseño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849620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Desarrollo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14862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Pruebas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44763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Validación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4746649" y="8973157"/>
            <a:ext cx="1678608" cy="28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09"/>
              </a:lnSpc>
            </a:pPr>
            <a:r>
              <a:rPr lang="en-US" sz="164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Corrección</a:t>
            </a:r>
          </a:p>
        </p:txBody>
      </p:sp>
      <p:sp>
        <p:nvSpPr>
          <p:cNvPr name="Freeform 39" id="39"/>
          <p:cNvSpPr/>
          <p:nvPr/>
        </p:nvSpPr>
        <p:spPr>
          <a:xfrm flipH="false" flipV="false" rot="0">
            <a:off x="2766545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7" y="0"/>
                </a:lnTo>
                <a:lnTo>
                  <a:pt x="398257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5064482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7" y="0"/>
                </a:lnTo>
                <a:lnTo>
                  <a:pt x="398257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7362419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9660356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11958293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14256230" y="9077429"/>
            <a:ext cx="398258" cy="111512"/>
          </a:xfrm>
          <a:custGeom>
            <a:avLst/>
            <a:gdLst/>
            <a:ahLst/>
            <a:cxnLst/>
            <a:rect r="r" b="b" t="t" l="l"/>
            <a:pathLst>
              <a:path h="111512" w="398258">
                <a:moveTo>
                  <a:pt x="0" y="0"/>
                </a:moveTo>
                <a:lnTo>
                  <a:pt x="398258" y="0"/>
                </a:lnTo>
                <a:lnTo>
                  <a:pt x="398258" y="111512"/>
                </a:lnTo>
                <a:lnTo>
                  <a:pt x="0" y="11151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5" id="45"/>
          <p:cNvSpPr txBox="true"/>
          <p:nvPr/>
        </p:nvSpPr>
        <p:spPr>
          <a:xfrm rot="0">
            <a:off x="723270" y="3340050"/>
            <a:ext cx="8155112" cy="364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Metodologías evaluadas: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Scrum · Kanban · SDD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23270" y="6699711"/>
            <a:ext cx="8155112" cy="11261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28"/>
              </a:lnSpc>
              <a:spcBef>
                <a:spcPct val="0"/>
              </a:spcBef>
            </a:pPr>
            <a:r>
              <a:rPr lang="en-US" b="true" sz="2163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Kanban — Alternativa evaluada: </a:t>
            </a:r>
            <a:r>
              <a:rPr lang="en-US" sz="2163">
                <a:solidFill>
                  <a:srgbClr val="185079"/>
                </a:solidFill>
                <a:latin typeface="Open Sauce"/>
                <a:ea typeface="Open Sauce"/>
                <a:cs typeface="Open Sauce"/>
                <a:sym typeface="Open Sauce"/>
              </a:rPr>
              <a:t>Útil para visualizar el flujo de trabajo, pero ofrece menor aporte a la especificación y trazabilidad requerida por PittySoft.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490346" y="76200"/>
            <a:ext cx="10559705" cy="896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895"/>
              </a:lnSpc>
              <a:spcBef>
                <a:spcPct val="0"/>
              </a:spcBef>
            </a:pPr>
            <a:r>
              <a:rPr lang="en-US" b="true" sz="6384" spc="-376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PLANIFICACIÓN Y  EDT/WBS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9513926" y="-9034046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275201" y="4688737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90" y="0"/>
                </a:lnTo>
                <a:lnTo>
                  <a:pt x="15919790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227149" y="1455093"/>
            <a:ext cx="3086100" cy="1276901"/>
            <a:chOff x="0" y="0"/>
            <a:chExt cx="812800" cy="33630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PittySoft – Proyecto APT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39773" y="3264291"/>
            <a:ext cx="3086100" cy="1276901"/>
            <a:chOff x="0" y="0"/>
            <a:chExt cx="812800" cy="336303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Gestión del proyecto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3733461" y="3264291"/>
            <a:ext cx="3086100" cy="1276901"/>
            <a:chOff x="0" y="0"/>
            <a:chExt cx="812800" cy="33630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POS – Punto de Venta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7227149" y="3264291"/>
            <a:ext cx="3086100" cy="1276901"/>
            <a:chOff x="0" y="0"/>
            <a:chExt cx="812800" cy="336303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SAP-lite – Control de Gestión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22824" y="3264291"/>
            <a:ext cx="3086100" cy="1276901"/>
            <a:chOff x="0" y="0"/>
            <a:chExt cx="812800" cy="33630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Kuentas – Contabilidad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4218499" y="3264291"/>
            <a:ext cx="3086100" cy="1276901"/>
            <a:chOff x="0" y="0"/>
            <a:chExt cx="812800" cy="33630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Integración y pruebas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4218499" y="4968826"/>
            <a:ext cx="3086100" cy="1276901"/>
            <a:chOff x="0" y="0"/>
            <a:chExt cx="812800" cy="33630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Trabajo colaborativo del equipo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239773" y="5143500"/>
            <a:ext cx="3086100" cy="1276901"/>
            <a:chOff x="0" y="0"/>
            <a:chExt cx="812800" cy="33630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Planificación - Backlog - Seguimient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227149" y="5348604"/>
            <a:ext cx="3086100" cy="1276901"/>
            <a:chOff x="0" y="0"/>
            <a:chExt cx="812800" cy="336303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336303"/>
            </a:xfrm>
            <a:custGeom>
              <a:avLst/>
              <a:gdLst/>
              <a:ahLst/>
              <a:cxnLst/>
              <a:rect r="r" b="b" t="t" l="l"/>
              <a:pathLst>
                <a:path h="336303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08362"/>
                  </a:lnTo>
                  <a:cubicBezTo>
                    <a:pt x="812800" y="279022"/>
                    <a:pt x="755519" y="336303"/>
                    <a:pt x="684859" y="336303"/>
                  </a:cubicBezTo>
                  <a:lnTo>
                    <a:pt x="127941" y="336303"/>
                  </a:lnTo>
                  <a:cubicBezTo>
                    <a:pt x="94009" y="336303"/>
                    <a:pt x="61467" y="322824"/>
                    <a:pt x="37473" y="298830"/>
                  </a:cubicBezTo>
                  <a:cubicBezTo>
                    <a:pt x="13479" y="274837"/>
                    <a:pt x="0" y="242294"/>
                    <a:pt x="0" y="208362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47625"/>
              <a:ext cx="812800" cy="2886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Cierre y entrega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7227149" y="7111280"/>
            <a:ext cx="3086100" cy="1341300"/>
            <a:chOff x="0" y="0"/>
            <a:chExt cx="812800" cy="35326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353264"/>
            </a:xfrm>
            <a:custGeom>
              <a:avLst/>
              <a:gdLst/>
              <a:ahLst/>
              <a:cxnLst/>
              <a:rect r="r" b="b" t="t" l="l"/>
              <a:pathLst>
                <a:path h="353264" w="812800">
                  <a:moveTo>
                    <a:pt x="127941" y="0"/>
                  </a:moveTo>
                  <a:lnTo>
                    <a:pt x="684859" y="0"/>
                  </a:lnTo>
                  <a:cubicBezTo>
                    <a:pt x="718791" y="0"/>
                    <a:pt x="751333" y="13479"/>
                    <a:pt x="775327" y="37473"/>
                  </a:cubicBezTo>
                  <a:cubicBezTo>
                    <a:pt x="799321" y="61467"/>
                    <a:pt x="812800" y="94009"/>
                    <a:pt x="812800" y="127941"/>
                  </a:cubicBezTo>
                  <a:lnTo>
                    <a:pt x="812800" y="225324"/>
                  </a:lnTo>
                  <a:cubicBezTo>
                    <a:pt x="812800" y="259255"/>
                    <a:pt x="799321" y="291798"/>
                    <a:pt x="775327" y="315791"/>
                  </a:cubicBezTo>
                  <a:cubicBezTo>
                    <a:pt x="751333" y="339785"/>
                    <a:pt x="718791" y="353264"/>
                    <a:pt x="684859" y="353264"/>
                  </a:cubicBezTo>
                  <a:lnTo>
                    <a:pt x="127941" y="353264"/>
                  </a:lnTo>
                  <a:cubicBezTo>
                    <a:pt x="94009" y="353264"/>
                    <a:pt x="61467" y="339785"/>
                    <a:pt x="37473" y="315791"/>
                  </a:cubicBezTo>
                  <a:cubicBezTo>
                    <a:pt x="13479" y="291798"/>
                    <a:pt x="0" y="259255"/>
                    <a:pt x="0" y="225324"/>
                  </a:cubicBezTo>
                  <a:lnTo>
                    <a:pt x="0" y="127941"/>
                  </a:lnTo>
                  <a:cubicBezTo>
                    <a:pt x="0" y="94009"/>
                    <a:pt x="13479" y="61467"/>
                    <a:pt x="37473" y="37473"/>
                  </a:cubicBezTo>
                  <a:cubicBezTo>
                    <a:pt x="61467" y="13479"/>
                    <a:pt x="94009" y="0"/>
                    <a:pt x="127941" y="0"/>
                  </a:cubicBezTo>
                  <a:close/>
                </a:path>
              </a:pathLst>
            </a:custGeom>
            <a:solidFill>
              <a:srgbClr val="95BFD1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47625"/>
              <a:ext cx="812800" cy="30563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Documentación </a:t>
              </a: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Evidencias</a:t>
              </a:r>
            </a:p>
            <a:p>
              <a:pPr algn="ctr">
                <a:lnSpc>
                  <a:spcPts val="2266"/>
                </a:lnSpc>
              </a:pPr>
              <a:r>
                <a:rPr lang="en-US" b="true" sz="2200" spc="156">
                  <a:solidFill>
                    <a:srgbClr val="000000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 Presentación</a:t>
              </a:r>
            </a:p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AutoShape 36" id="36"/>
          <p:cNvSpPr/>
          <p:nvPr/>
        </p:nvSpPr>
        <p:spPr>
          <a:xfrm flipH="true">
            <a:off x="8770199" y="2731994"/>
            <a:ext cx="0" cy="60230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7" id="37"/>
          <p:cNvSpPr/>
          <p:nvPr/>
        </p:nvSpPr>
        <p:spPr>
          <a:xfrm flipH="true" flipV="true">
            <a:off x="6819561" y="3902742"/>
            <a:ext cx="428407" cy="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flipH="true" flipV="true">
            <a:off x="3325873" y="3902742"/>
            <a:ext cx="503168" cy="6728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flipH="true">
            <a:off x="1782823" y="4541193"/>
            <a:ext cx="0" cy="602307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 flipH="true" flipV="true">
            <a:off x="10313249" y="3902742"/>
            <a:ext cx="466284" cy="62688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 flipH="true" flipV="true">
            <a:off x="13806936" y="3902742"/>
            <a:ext cx="331716" cy="32784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2" id="42"/>
          <p:cNvSpPr/>
          <p:nvPr/>
        </p:nvSpPr>
        <p:spPr>
          <a:xfrm flipH="true" flipV="true">
            <a:off x="15761549" y="4541193"/>
            <a:ext cx="91496" cy="500785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3" id="43"/>
          <p:cNvSpPr/>
          <p:nvPr/>
        </p:nvSpPr>
        <p:spPr>
          <a:xfrm flipV="true">
            <a:off x="8770199" y="6625505"/>
            <a:ext cx="0" cy="6996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627487" y="240670"/>
            <a:ext cx="9033025" cy="60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24"/>
              </a:lnSpc>
              <a:spcBef>
                <a:spcPct val="0"/>
              </a:spcBef>
            </a:pPr>
            <a:r>
              <a:rPr lang="en-US" b="true" sz="4281" spc="-252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PLAN DE TRABAJO Y CARTA GANTT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0">
            <a:off x="12747200" y="-7664881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905165" y="-6094915"/>
            <a:ext cx="15919790" cy="13575239"/>
          </a:xfrm>
          <a:custGeom>
            <a:avLst/>
            <a:gdLst/>
            <a:ahLst/>
            <a:cxnLst/>
            <a:rect r="r" b="b" t="t" l="l"/>
            <a:pathLst>
              <a:path h="13575239" w="15919790">
                <a:moveTo>
                  <a:pt x="0" y="0"/>
                </a:moveTo>
                <a:lnTo>
                  <a:pt x="15919789" y="0"/>
                </a:lnTo>
                <a:lnTo>
                  <a:pt x="15919789" y="13575239"/>
                </a:lnTo>
                <a:lnTo>
                  <a:pt x="0" y="135752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98723" y="1806203"/>
            <a:ext cx="17290553" cy="7945518"/>
            <a:chOff x="0" y="0"/>
            <a:chExt cx="4553891" cy="209264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553891" cy="2092647"/>
            </a:xfrm>
            <a:custGeom>
              <a:avLst/>
              <a:gdLst/>
              <a:ahLst/>
              <a:cxnLst/>
              <a:rect r="r" b="b" t="t" l="l"/>
              <a:pathLst>
                <a:path h="2092647" w="4553891">
                  <a:moveTo>
                    <a:pt x="22835" y="0"/>
                  </a:moveTo>
                  <a:lnTo>
                    <a:pt x="4531055" y="0"/>
                  </a:lnTo>
                  <a:cubicBezTo>
                    <a:pt x="4537111" y="0"/>
                    <a:pt x="4542920" y="2406"/>
                    <a:pt x="4547202" y="6688"/>
                  </a:cubicBezTo>
                  <a:cubicBezTo>
                    <a:pt x="4551485" y="10971"/>
                    <a:pt x="4553891" y="16779"/>
                    <a:pt x="4553891" y="22835"/>
                  </a:cubicBezTo>
                  <a:lnTo>
                    <a:pt x="4553891" y="2069811"/>
                  </a:lnTo>
                  <a:cubicBezTo>
                    <a:pt x="4553891" y="2075867"/>
                    <a:pt x="4551485" y="2081676"/>
                    <a:pt x="4547202" y="2085958"/>
                  </a:cubicBezTo>
                  <a:cubicBezTo>
                    <a:pt x="4542920" y="2090241"/>
                    <a:pt x="4537111" y="2092647"/>
                    <a:pt x="4531055" y="2092647"/>
                  </a:cubicBezTo>
                  <a:lnTo>
                    <a:pt x="22835" y="2092647"/>
                  </a:lnTo>
                  <a:cubicBezTo>
                    <a:pt x="16779" y="2092647"/>
                    <a:pt x="10971" y="2090241"/>
                    <a:pt x="6688" y="2085958"/>
                  </a:cubicBezTo>
                  <a:cubicBezTo>
                    <a:pt x="2406" y="2081676"/>
                    <a:pt x="0" y="2075867"/>
                    <a:pt x="0" y="2069811"/>
                  </a:cubicBezTo>
                  <a:lnTo>
                    <a:pt x="0" y="22835"/>
                  </a:lnTo>
                  <a:cubicBezTo>
                    <a:pt x="0" y="16779"/>
                    <a:pt x="2406" y="10971"/>
                    <a:pt x="6688" y="6688"/>
                  </a:cubicBezTo>
                  <a:cubicBezTo>
                    <a:pt x="10971" y="2406"/>
                    <a:pt x="16779" y="0"/>
                    <a:pt x="22835" y="0"/>
                  </a:cubicBezTo>
                  <a:close/>
                </a:path>
              </a:pathLst>
            </a:custGeom>
            <a:solidFill>
              <a:srgbClr val="0D132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47625"/>
              <a:ext cx="4553891" cy="20450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66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755428" y="2049162"/>
            <a:ext cx="16777145" cy="7421561"/>
          </a:xfrm>
          <a:custGeom>
            <a:avLst/>
            <a:gdLst/>
            <a:ahLst/>
            <a:cxnLst/>
            <a:rect r="r" b="b" t="t" l="l"/>
            <a:pathLst>
              <a:path h="7421561" w="16777145">
                <a:moveTo>
                  <a:pt x="0" y="0"/>
                </a:moveTo>
                <a:lnTo>
                  <a:pt x="16777144" y="0"/>
                </a:lnTo>
                <a:lnTo>
                  <a:pt x="16777144" y="7421561"/>
                </a:lnTo>
                <a:lnTo>
                  <a:pt x="0" y="742156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752" r="0" b="-752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181" t="-19076" r="-3000" b="-11427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75837" y="757775"/>
            <a:ext cx="16736327" cy="8771450"/>
            <a:chOff x="0" y="0"/>
            <a:chExt cx="4407921" cy="231017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07921" cy="2310176"/>
            </a:xfrm>
            <a:custGeom>
              <a:avLst/>
              <a:gdLst/>
              <a:ahLst/>
              <a:cxnLst/>
              <a:rect r="r" b="b" t="t" l="l"/>
              <a:pathLst>
                <a:path h="2310176" w="4407921">
                  <a:moveTo>
                    <a:pt x="16190" y="0"/>
                  </a:moveTo>
                  <a:lnTo>
                    <a:pt x="4391731" y="0"/>
                  </a:lnTo>
                  <a:cubicBezTo>
                    <a:pt x="4400672" y="0"/>
                    <a:pt x="4407921" y="7249"/>
                    <a:pt x="4407921" y="16190"/>
                  </a:cubicBezTo>
                  <a:lnTo>
                    <a:pt x="4407921" y="2293986"/>
                  </a:lnTo>
                  <a:cubicBezTo>
                    <a:pt x="4407921" y="2302927"/>
                    <a:pt x="4400672" y="2310176"/>
                    <a:pt x="4391731" y="2310176"/>
                  </a:cubicBezTo>
                  <a:lnTo>
                    <a:pt x="16190" y="2310176"/>
                  </a:lnTo>
                  <a:cubicBezTo>
                    <a:pt x="7249" y="2310176"/>
                    <a:pt x="0" y="2302927"/>
                    <a:pt x="0" y="2293986"/>
                  </a:cubicBezTo>
                  <a:lnTo>
                    <a:pt x="0" y="16190"/>
                  </a:lnTo>
                  <a:cubicBezTo>
                    <a:pt x="0" y="7249"/>
                    <a:pt x="7249" y="0"/>
                    <a:pt x="16190" y="0"/>
                  </a:cubicBezTo>
                  <a:close/>
                </a:path>
              </a:pathLst>
            </a:custGeom>
            <a:solidFill>
              <a:srgbClr val="BBD6E1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07921" cy="23482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2080438" y="2948687"/>
            <a:ext cx="3911512" cy="4161472"/>
            <a:chOff x="0" y="0"/>
            <a:chExt cx="935533" cy="99531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Problematica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Se identificaron procesos que aún requieren digitación, revisión, cruce y validación manual de información</a:t>
              </a: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proveniente de distintas fuentes.</a:t>
              </a:r>
            </a:p>
            <a:p>
              <a:pPr algn="ctr" marL="0" indent="0" lvl="0">
                <a:lnSpc>
                  <a:spcPts val="287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3659567" y="3194330"/>
            <a:ext cx="753254" cy="753254"/>
          </a:xfrm>
          <a:custGeom>
            <a:avLst/>
            <a:gdLst/>
            <a:ahLst/>
            <a:cxnLst/>
            <a:rect r="r" b="b" t="t" l="l"/>
            <a:pathLst>
              <a:path h="753254" w="753254">
                <a:moveTo>
                  <a:pt x="0" y="0"/>
                </a:moveTo>
                <a:lnTo>
                  <a:pt x="753255" y="0"/>
                </a:lnTo>
                <a:lnTo>
                  <a:pt x="753255" y="753254"/>
                </a:lnTo>
                <a:lnTo>
                  <a:pt x="0" y="75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7188244" y="2948687"/>
            <a:ext cx="3911512" cy="4161472"/>
            <a:chOff x="0" y="0"/>
            <a:chExt cx="935533" cy="99531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Propuesta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>
                <a:lnSpc>
                  <a:spcPts val="2280"/>
                </a:lnSpc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PittySoft busca abordar estas necesidades mediante una solución modular compuesta por </a:t>
              </a:r>
              <a:r>
                <a:rPr lang="en-US" sz="1900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POS, SAP-lite y Kuentas,</a:t>
              </a: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 dentro del alcance definido para el Proyecto APT.</a:t>
              </a:r>
            </a:p>
            <a:p>
              <a:pPr algn="ctr" marL="0" indent="0" lvl="0">
                <a:lnSpc>
                  <a:spcPts val="287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299906" y="2948687"/>
            <a:ext cx="3911512" cy="4161472"/>
            <a:chOff x="0" y="0"/>
            <a:chExt cx="935533" cy="995317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35533" cy="995317"/>
            </a:xfrm>
            <a:custGeom>
              <a:avLst/>
              <a:gdLst/>
              <a:ahLst/>
              <a:cxnLst/>
              <a:rect r="r" b="b" t="t" l="l"/>
              <a:pathLst>
                <a:path h="995317" w="935533">
                  <a:moveTo>
                    <a:pt x="47502" y="0"/>
                  </a:moveTo>
                  <a:lnTo>
                    <a:pt x="888030" y="0"/>
                  </a:lnTo>
                  <a:cubicBezTo>
                    <a:pt x="914265" y="0"/>
                    <a:pt x="935533" y="21268"/>
                    <a:pt x="935533" y="47502"/>
                  </a:cubicBezTo>
                  <a:lnTo>
                    <a:pt x="935533" y="947814"/>
                  </a:lnTo>
                  <a:cubicBezTo>
                    <a:pt x="935533" y="960413"/>
                    <a:pt x="930528" y="972495"/>
                    <a:pt x="921620" y="981404"/>
                  </a:cubicBezTo>
                  <a:cubicBezTo>
                    <a:pt x="912711" y="990312"/>
                    <a:pt x="900629" y="995317"/>
                    <a:pt x="888030" y="995317"/>
                  </a:cubicBezTo>
                  <a:lnTo>
                    <a:pt x="47502" y="995317"/>
                  </a:lnTo>
                  <a:cubicBezTo>
                    <a:pt x="34904" y="995317"/>
                    <a:pt x="22822" y="990312"/>
                    <a:pt x="13913" y="981404"/>
                  </a:cubicBezTo>
                  <a:cubicBezTo>
                    <a:pt x="5005" y="972495"/>
                    <a:pt x="0" y="960413"/>
                    <a:pt x="0" y="947814"/>
                  </a:cubicBezTo>
                  <a:lnTo>
                    <a:pt x="0" y="47502"/>
                  </a:lnTo>
                  <a:cubicBezTo>
                    <a:pt x="0" y="34904"/>
                    <a:pt x="5005" y="22822"/>
                    <a:pt x="13913" y="13913"/>
                  </a:cubicBezTo>
                  <a:cubicBezTo>
                    <a:pt x="22822" y="5005"/>
                    <a:pt x="34904" y="0"/>
                    <a:pt x="47502" y="0"/>
                  </a:cubicBezTo>
                  <a:close/>
                </a:path>
              </a:pathLst>
            </a:custGeom>
            <a:solidFill>
              <a:srgbClr val="3885AB"/>
            </a:solidFill>
            <a:ln cap="rnd">
              <a:noFill/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0"/>
              <a:ext cx="935533" cy="9953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</a:p>
            <a:p>
              <a:pPr algn="ctr">
                <a:lnSpc>
                  <a:spcPts val="3119"/>
                </a:lnSpc>
              </a:pPr>
              <a:r>
                <a:rPr lang="en-US" sz="2599" b="true">
                  <a:solidFill>
                    <a:srgbClr val="FBF6F1"/>
                  </a:solidFill>
                  <a:latin typeface="Open Sauce Bold"/>
                  <a:ea typeface="Open Sauce Bold"/>
                  <a:cs typeface="Open Sauce Bold"/>
                  <a:sym typeface="Open Sauce Bold"/>
                </a:rPr>
                <a:t>Resultado</a:t>
              </a:r>
            </a:p>
            <a:p>
              <a:pPr algn="ctr">
                <a:lnSpc>
                  <a:spcPts val="2879"/>
                </a:lnSpc>
              </a:pPr>
            </a:p>
            <a:p>
              <a:pPr algn="ctr" marL="0" indent="0" lvl="0">
                <a:lnSpc>
                  <a:spcPts val="2280"/>
                </a:lnSpc>
                <a:spcBef>
                  <a:spcPct val="0"/>
                </a:spcBef>
              </a:pPr>
              <a:r>
                <a:rPr lang="en-US" sz="1900">
                  <a:solidFill>
                    <a:srgbClr val="FBF6F1"/>
                  </a:solidFill>
                  <a:latin typeface="Open Sauce"/>
                  <a:ea typeface="Open Sauce"/>
                  <a:cs typeface="Open Sauce"/>
                  <a:sym typeface="Open Sauce"/>
                </a:rPr>
                <a:t>Desarrollar, probar e integrar los componentes definidos en un entorno de validación, realizando correcciones y mejoras a partir de los resultados obtenidos.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8629424" y="3237469"/>
            <a:ext cx="1029152" cy="710115"/>
          </a:xfrm>
          <a:custGeom>
            <a:avLst/>
            <a:gdLst/>
            <a:ahLst/>
            <a:cxnLst/>
            <a:rect r="r" b="b" t="t" l="l"/>
            <a:pathLst>
              <a:path h="710115" w="1029152">
                <a:moveTo>
                  <a:pt x="0" y="0"/>
                </a:moveTo>
                <a:lnTo>
                  <a:pt x="1029152" y="0"/>
                </a:lnTo>
                <a:lnTo>
                  <a:pt x="1029152" y="710115"/>
                </a:lnTo>
                <a:lnTo>
                  <a:pt x="0" y="71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3871531" y="3170037"/>
            <a:ext cx="844978" cy="844978"/>
          </a:xfrm>
          <a:custGeom>
            <a:avLst/>
            <a:gdLst/>
            <a:ahLst/>
            <a:cxnLst/>
            <a:rect r="r" b="b" t="t" l="l"/>
            <a:pathLst>
              <a:path h="844978" w="844978">
                <a:moveTo>
                  <a:pt x="0" y="0"/>
                </a:moveTo>
                <a:lnTo>
                  <a:pt x="844979" y="0"/>
                </a:lnTo>
                <a:lnTo>
                  <a:pt x="844979" y="844979"/>
                </a:lnTo>
                <a:lnTo>
                  <a:pt x="0" y="84497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958686" y="7153143"/>
            <a:ext cx="2340529" cy="1895828"/>
          </a:xfrm>
          <a:custGeom>
            <a:avLst/>
            <a:gdLst/>
            <a:ahLst/>
            <a:cxnLst/>
            <a:rect r="r" b="b" t="t" l="l"/>
            <a:pathLst>
              <a:path h="1895828" w="2340529">
                <a:moveTo>
                  <a:pt x="0" y="0"/>
                </a:moveTo>
                <a:lnTo>
                  <a:pt x="2340528" y="0"/>
                </a:lnTo>
                <a:lnTo>
                  <a:pt x="2340528" y="1895828"/>
                </a:lnTo>
                <a:lnTo>
                  <a:pt x="0" y="189582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5684078" y="1641537"/>
            <a:ext cx="6919843" cy="874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669"/>
              </a:lnSpc>
              <a:spcBef>
                <a:spcPct val="0"/>
              </a:spcBef>
            </a:pPr>
            <a:r>
              <a:rPr lang="en-US" b="true" sz="6175" spc="-364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</a:t>
            </a:r>
            <a:r>
              <a:rPr lang="en-US" b="true" sz="6175" spc="-364" strike="noStrike" u="none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ONCLUSIÓN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3743475" y="8253977"/>
            <a:ext cx="10801050" cy="575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arr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 de so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w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are 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•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el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de dato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</a:t>
            </a: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</a:t>
            </a:r>
          </a:p>
          <a:p>
            <a:pPr algn="ctr" marL="0" indent="0" lvl="0">
              <a:lnSpc>
                <a:spcPts val="2380"/>
              </a:lnSpc>
              <a:spcBef>
                <a:spcPct val="0"/>
              </a:spcBef>
            </a:pPr>
            <a:r>
              <a:rPr lang="en-US" b="true" sz="1700" strike="noStrike" u="none">
                <a:solidFill>
                  <a:srgbClr val="18507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Pruebas y validación • Gestión de proyectos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684078" y="7561909"/>
            <a:ext cx="6919843" cy="415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105"/>
              </a:lnSpc>
              <a:spcBef>
                <a:spcPct val="0"/>
              </a:spcBef>
            </a:pPr>
            <a:r>
              <a:rPr lang="en-US" b="true" sz="2875" spc="-169">
                <a:solidFill>
                  <a:srgbClr val="185079"/>
                </a:solidFill>
                <a:latin typeface="Open Sauce Semi-Bold"/>
                <a:ea typeface="Open Sauce Semi-Bold"/>
                <a:cs typeface="Open Sauce Semi-Bold"/>
                <a:sym typeface="Open Sauce Semi-Bold"/>
              </a:rPr>
              <a:t>COMPETENCIAS APLICADAS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DAHUGvuQtko</dc:identifier>
  <dcterms:modified xsi:type="dcterms:W3CDTF">2011-08-01T06:04:30Z</dcterms:modified>
  <cp:revision>1</cp:revision>
  <dc:title>Azul Gris Moderno Análisis de Datos Presentación Portafolio Tech</dc:title>
</cp:coreProperties>
</file>