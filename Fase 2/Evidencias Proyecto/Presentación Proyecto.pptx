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pen Sauce" charset="1" panose="00000500000000000000"/>
      <p:regular r:id="rId16"/>
    </p:embeddedFont>
    <p:embeddedFont>
      <p:font typeface="Open Sauce Semi-Bold" charset="1" panose="00000700000000000000"/>
      <p:regular r:id="rId17"/>
    </p:embeddedFont>
    <p:embeddedFont>
      <p:font typeface="Open Sauce Bold" charset="1" panose="00000800000000000000"/>
      <p:regular r:id="rId18"/>
    </p:embeddedFont>
    <p:embeddedFont>
      <p:font typeface="Open Sans Bold" charset="1" panose="020B0806030504020204"/>
      <p:regular r:id="rId19"/>
    </p:embeddedFont>
    <p:embeddedFont>
      <p:font typeface="Open Sans" charset="1" panose="020B0606030504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5.jpe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5762" y="2577008"/>
            <a:ext cx="6366634" cy="1238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79"/>
              </a:lnSpc>
            </a:pPr>
            <a:r>
              <a:rPr lang="en-US" sz="8777" spc="-517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PITTYSOFT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742603" y="-4316939"/>
            <a:ext cx="22188662" cy="18920878"/>
          </a:xfrm>
          <a:custGeom>
            <a:avLst/>
            <a:gdLst/>
            <a:ahLst/>
            <a:cxnLst/>
            <a:rect r="r" b="b" t="t" l="l"/>
            <a:pathLst>
              <a:path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7238" y="157256"/>
            <a:ext cx="4689739" cy="1154116"/>
          </a:xfrm>
          <a:custGeom>
            <a:avLst/>
            <a:gdLst/>
            <a:ahLst/>
            <a:cxnLst/>
            <a:rect r="r" b="b" t="t" l="l"/>
            <a:pathLst>
              <a:path h="1154116" w="4689739">
                <a:moveTo>
                  <a:pt x="0" y="0"/>
                </a:moveTo>
                <a:lnTo>
                  <a:pt x="4689739" y="0"/>
                </a:lnTo>
                <a:lnTo>
                  <a:pt x="4689739" y="1154115"/>
                </a:lnTo>
                <a:lnTo>
                  <a:pt x="0" y="1154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83638">
            <a:off x="12192809" y="2994188"/>
            <a:ext cx="4802933" cy="4298625"/>
          </a:xfrm>
          <a:custGeom>
            <a:avLst/>
            <a:gdLst/>
            <a:ahLst/>
            <a:cxnLst/>
            <a:rect r="r" b="b" t="t" l="l"/>
            <a:pathLst>
              <a:path h="4298625" w="4802933">
                <a:moveTo>
                  <a:pt x="0" y="0"/>
                </a:moveTo>
                <a:lnTo>
                  <a:pt x="4802932" y="0"/>
                </a:lnTo>
                <a:lnTo>
                  <a:pt x="4802932" y="4298624"/>
                </a:lnTo>
                <a:lnTo>
                  <a:pt x="0" y="42986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5762" y="3892022"/>
            <a:ext cx="10443484" cy="969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20"/>
              </a:lnSpc>
              <a:spcBef>
                <a:spcPct val="0"/>
              </a:spcBef>
            </a:pPr>
            <a:r>
              <a:rPr lang="en-US" b="true" sz="6870" spc="-405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PROYECTO APT – FASE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5762" y="7914024"/>
            <a:ext cx="4159277" cy="1812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3300" spc="-118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Integrantes:</a:t>
            </a:r>
          </a:p>
          <a:p>
            <a:pPr algn="l">
              <a:lnSpc>
                <a:spcPts val="3564"/>
              </a:lnSpc>
            </a:pPr>
            <a:r>
              <a:rPr lang="en-US" sz="3300" spc="-118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Axel Blanlot</a:t>
            </a:r>
          </a:p>
          <a:p>
            <a:pPr algn="l">
              <a:lnSpc>
                <a:spcPts val="3564"/>
              </a:lnSpc>
            </a:pPr>
            <a:r>
              <a:rPr lang="en-US" sz="3300" spc="-118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Gabriel Bermar</a:t>
            </a:r>
          </a:p>
          <a:p>
            <a:pPr algn="l">
              <a:lnSpc>
                <a:spcPts val="3564"/>
              </a:lnSpc>
            </a:pPr>
            <a:r>
              <a:rPr lang="en-US" sz="3300" spc="-118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Sebastian Quezada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57414" y="9160465"/>
            <a:ext cx="5430202" cy="469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3300" spc="-118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Docente: Mallen Gonzalez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57414" y="9658433"/>
            <a:ext cx="6312373" cy="469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3300" spc="-118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Carrera: Ingeniería en Informática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53289" y="49364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278811" y="3568254"/>
            <a:ext cx="3169225" cy="3267242"/>
          </a:xfrm>
          <a:custGeom>
            <a:avLst/>
            <a:gdLst/>
            <a:ahLst/>
            <a:cxnLst/>
            <a:rect r="r" b="b" t="t" l="l"/>
            <a:pathLst>
              <a:path h="3267242" w="3169225">
                <a:moveTo>
                  <a:pt x="0" y="0"/>
                </a:moveTo>
                <a:lnTo>
                  <a:pt x="3169225" y="0"/>
                </a:lnTo>
                <a:lnTo>
                  <a:pt x="3169225" y="3267242"/>
                </a:lnTo>
                <a:lnTo>
                  <a:pt x="0" y="32672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54315" y="675574"/>
            <a:ext cx="2779371" cy="763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23"/>
              </a:lnSpc>
              <a:spcBef>
                <a:spcPct val="0"/>
              </a:spcBef>
            </a:pPr>
            <a:r>
              <a:rPr lang="en-US" b="true" sz="5392" spc="-318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AGENDA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7772" y="2715048"/>
            <a:ext cx="731922" cy="713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52"/>
              </a:lnSpc>
              <a:spcBef>
                <a:spcPct val="0"/>
              </a:spcBef>
            </a:pPr>
            <a:r>
              <a:rPr lang="en-US" b="true" sz="5141" spc="-30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57517" y="2714945"/>
            <a:ext cx="4635379" cy="58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0"/>
              </a:lnSpc>
            </a:pPr>
            <a:r>
              <a:rPr lang="en-US" b="true" sz="344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¿Qué es PittySoft?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7772" y="4079963"/>
            <a:ext cx="913778" cy="713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52"/>
              </a:lnSpc>
              <a:spcBef>
                <a:spcPct val="0"/>
              </a:spcBef>
            </a:pPr>
            <a:r>
              <a:rPr lang="en-US" b="true" sz="5141" spc="-30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57517" y="4079861"/>
            <a:ext cx="2183242" cy="58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0"/>
              </a:lnSpc>
            </a:pPr>
            <a:r>
              <a:rPr lang="en-US" b="true" sz="344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Contexto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7772" y="5525454"/>
            <a:ext cx="913778" cy="713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52"/>
              </a:lnSpc>
              <a:spcBef>
                <a:spcPct val="0"/>
              </a:spcBef>
            </a:pPr>
            <a:r>
              <a:rPr lang="en-US" b="true" sz="5141" spc="-30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7772" y="6886784"/>
            <a:ext cx="913778" cy="713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52"/>
              </a:lnSpc>
              <a:spcBef>
                <a:spcPct val="0"/>
              </a:spcBef>
            </a:pPr>
            <a:r>
              <a:rPr lang="en-US" b="true" sz="5141" spc="-30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57517" y="6886887"/>
            <a:ext cx="5173653" cy="58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0"/>
              </a:lnSpc>
            </a:pPr>
            <a:r>
              <a:rPr lang="en-US" b="true" sz="344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Avance - POS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863423" y="5451089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37772" y="8333840"/>
            <a:ext cx="913778" cy="713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52"/>
              </a:lnSpc>
              <a:spcBef>
                <a:spcPct val="0"/>
              </a:spcBef>
            </a:pPr>
            <a:r>
              <a:rPr lang="en-US" b="true" sz="5141" spc="-30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48578" y="2458143"/>
            <a:ext cx="913778" cy="713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52"/>
              </a:lnSpc>
              <a:spcBef>
                <a:spcPct val="0"/>
              </a:spcBef>
            </a:pPr>
            <a:r>
              <a:rPr lang="en-US" b="true" sz="5141" spc="-30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48578" y="4016342"/>
            <a:ext cx="913778" cy="713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52"/>
              </a:lnSpc>
              <a:spcBef>
                <a:spcPct val="0"/>
              </a:spcBef>
            </a:pPr>
            <a:r>
              <a:rPr lang="en-US" b="true" sz="5141" spc="-30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07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52675" y="5584709"/>
            <a:ext cx="5801639" cy="58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0"/>
              </a:lnSpc>
            </a:pPr>
            <a:r>
              <a:rPr lang="en-US" b="true" sz="344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Metodología de trabajo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43914" y="5577697"/>
            <a:ext cx="913778" cy="713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52"/>
              </a:lnSpc>
              <a:spcBef>
                <a:spcPct val="0"/>
              </a:spcBef>
            </a:pPr>
            <a:r>
              <a:rPr lang="en-US" b="true" sz="5141" spc="-30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08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61507" y="5589404"/>
            <a:ext cx="2511567" cy="556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98"/>
              </a:lnSpc>
            </a:pPr>
            <a:r>
              <a:rPr lang="en-US" b="true" sz="3284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Conclusión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57517" y="8248421"/>
            <a:ext cx="5173653" cy="58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0"/>
              </a:lnSpc>
            </a:pPr>
            <a:r>
              <a:rPr lang="en-US" b="true" sz="344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Avance - SAP-lite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61507" y="2470304"/>
            <a:ext cx="5173653" cy="58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0"/>
              </a:lnSpc>
            </a:pPr>
            <a:r>
              <a:rPr lang="en-US" b="true" sz="344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Avance - Kuentas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61507" y="4003829"/>
            <a:ext cx="5173653" cy="58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0"/>
              </a:lnSpc>
            </a:pPr>
            <a:r>
              <a:rPr lang="en-US" b="true" sz="344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Demo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-9479936" y="-6581510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57645" y="4063964"/>
            <a:ext cx="4342073" cy="4117792"/>
            <a:chOff x="0" y="0"/>
            <a:chExt cx="1143591" cy="10845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43591" cy="1084521"/>
            </a:xfrm>
            <a:custGeom>
              <a:avLst/>
              <a:gdLst/>
              <a:ahLst/>
              <a:cxnLst/>
              <a:rect r="r" b="b" t="t" l="l"/>
              <a:pathLst>
                <a:path h="1084521" w="1143591">
                  <a:moveTo>
                    <a:pt x="90933" y="0"/>
                  </a:moveTo>
                  <a:lnTo>
                    <a:pt x="1052658" y="0"/>
                  </a:lnTo>
                  <a:cubicBezTo>
                    <a:pt x="1102879" y="0"/>
                    <a:pt x="1143591" y="40712"/>
                    <a:pt x="1143591" y="90933"/>
                  </a:cubicBezTo>
                  <a:lnTo>
                    <a:pt x="1143591" y="993588"/>
                  </a:lnTo>
                  <a:cubicBezTo>
                    <a:pt x="1143591" y="1043809"/>
                    <a:pt x="1102879" y="1084521"/>
                    <a:pt x="1052658" y="1084521"/>
                  </a:cubicBezTo>
                  <a:lnTo>
                    <a:pt x="90933" y="1084521"/>
                  </a:lnTo>
                  <a:cubicBezTo>
                    <a:pt x="40712" y="1084521"/>
                    <a:pt x="0" y="1043809"/>
                    <a:pt x="0" y="993588"/>
                  </a:cubicBezTo>
                  <a:lnTo>
                    <a:pt x="0" y="90933"/>
                  </a:lnTo>
                  <a:cubicBezTo>
                    <a:pt x="0" y="40712"/>
                    <a:pt x="40712" y="0"/>
                    <a:pt x="90933" y="0"/>
                  </a:cubicBezTo>
                  <a:close/>
                </a:path>
              </a:pathLst>
            </a:custGeom>
            <a:solidFill>
              <a:srgbClr val="95BFD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1143591" cy="1036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98409" y="4063964"/>
            <a:ext cx="4342073" cy="4117792"/>
            <a:chOff x="0" y="0"/>
            <a:chExt cx="1143591" cy="10845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591" cy="1084521"/>
            </a:xfrm>
            <a:custGeom>
              <a:avLst/>
              <a:gdLst/>
              <a:ahLst/>
              <a:cxnLst/>
              <a:rect r="r" b="b" t="t" l="l"/>
              <a:pathLst>
                <a:path h="1084521" w="1143591">
                  <a:moveTo>
                    <a:pt x="90933" y="0"/>
                  </a:moveTo>
                  <a:lnTo>
                    <a:pt x="1052658" y="0"/>
                  </a:lnTo>
                  <a:cubicBezTo>
                    <a:pt x="1102879" y="0"/>
                    <a:pt x="1143591" y="40712"/>
                    <a:pt x="1143591" y="90933"/>
                  </a:cubicBezTo>
                  <a:lnTo>
                    <a:pt x="1143591" y="993588"/>
                  </a:lnTo>
                  <a:cubicBezTo>
                    <a:pt x="1143591" y="1043809"/>
                    <a:pt x="1102879" y="1084521"/>
                    <a:pt x="1052658" y="1084521"/>
                  </a:cubicBezTo>
                  <a:lnTo>
                    <a:pt x="90933" y="1084521"/>
                  </a:lnTo>
                  <a:cubicBezTo>
                    <a:pt x="40712" y="1084521"/>
                    <a:pt x="0" y="1043809"/>
                    <a:pt x="0" y="993588"/>
                  </a:cubicBezTo>
                  <a:lnTo>
                    <a:pt x="0" y="90933"/>
                  </a:lnTo>
                  <a:cubicBezTo>
                    <a:pt x="0" y="40712"/>
                    <a:pt x="40712" y="0"/>
                    <a:pt x="90933" y="0"/>
                  </a:cubicBezTo>
                  <a:close/>
                </a:path>
              </a:pathLst>
            </a:custGeom>
            <a:solidFill>
              <a:srgbClr val="95BFD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1143591" cy="1036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039172" y="4063964"/>
            <a:ext cx="4342073" cy="4117792"/>
            <a:chOff x="0" y="0"/>
            <a:chExt cx="1143591" cy="10845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43591" cy="1084521"/>
            </a:xfrm>
            <a:custGeom>
              <a:avLst/>
              <a:gdLst/>
              <a:ahLst/>
              <a:cxnLst/>
              <a:rect r="r" b="b" t="t" l="l"/>
              <a:pathLst>
                <a:path h="1084521" w="1143591">
                  <a:moveTo>
                    <a:pt x="90933" y="0"/>
                  </a:moveTo>
                  <a:lnTo>
                    <a:pt x="1052658" y="0"/>
                  </a:lnTo>
                  <a:cubicBezTo>
                    <a:pt x="1102879" y="0"/>
                    <a:pt x="1143591" y="40712"/>
                    <a:pt x="1143591" y="90933"/>
                  </a:cubicBezTo>
                  <a:lnTo>
                    <a:pt x="1143591" y="993588"/>
                  </a:lnTo>
                  <a:cubicBezTo>
                    <a:pt x="1143591" y="1043809"/>
                    <a:pt x="1102879" y="1084521"/>
                    <a:pt x="1052658" y="1084521"/>
                  </a:cubicBezTo>
                  <a:lnTo>
                    <a:pt x="90933" y="1084521"/>
                  </a:lnTo>
                  <a:cubicBezTo>
                    <a:pt x="40712" y="1084521"/>
                    <a:pt x="0" y="1043809"/>
                    <a:pt x="0" y="993588"/>
                  </a:cubicBezTo>
                  <a:lnTo>
                    <a:pt x="0" y="90933"/>
                  </a:lnTo>
                  <a:cubicBezTo>
                    <a:pt x="0" y="40712"/>
                    <a:pt x="40712" y="0"/>
                    <a:pt x="90933" y="0"/>
                  </a:cubicBezTo>
                  <a:close/>
                </a:path>
              </a:pathLst>
            </a:custGeom>
            <a:solidFill>
              <a:srgbClr val="95BFD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47625"/>
              <a:ext cx="1143591" cy="1036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55993" y="2899334"/>
            <a:ext cx="1604592" cy="1532385"/>
          </a:xfrm>
          <a:custGeom>
            <a:avLst/>
            <a:gdLst/>
            <a:ahLst/>
            <a:cxnLst/>
            <a:rect r="r" b="b" t="t" l="l"/>
            <a:pathLst>
              <a:path h="1532385" w="1604592">
                <a:moveTo>
                  <a:pt x="0" y="0"/>
                </a:moveTo>
                <a:lnTo>
                  <a:pt x="1604593" y="0"/>
                </a:lnTo>
                <a:lnTo>
                  <a:pt x="1604593" y="1532386"/>
                </a:lnTo>
                <a:lnTo>
                  <a:pt x="0" y="1532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10238896">
            <a:off x="16102920" y="3117519"/>
            <a:ext cx="932334" cy="876519"/>
          </a:xfrm>
          <a:custGeom>
            <a:avLst/>
            <a:gdLst/>
            <a:ahLst/>
            <a:cxnLst/>
            <a:rect r="r" b="b" t="t" l="l"/>
            <a:pathLst>
              <a:path h="876519" w="932334">
                <a:moveTo>
                  <a:pt x="932334" y="876520"/>
                </a:moveTo>
                <a:lnTo>
                  <a:pt x="0" y="876520"/>
                </a:lnTo>
                <a:lnTo>
                  <a:pt x="0" y="0"/>
                </a:lnTo>
                <a:lnTo>
                  <a:pt x="932334" y="0"/>
                </a:lnTo>
                <a:lnTo>
                  <a:pt x="932334" y="876520"/>
                </a:lnTo>
                <a:close/>
              </a:path>
            </a:pathLst>
          </a:custGeom>
          <a:blipFill>
            <a:blip r:embed="rId4"/>
            <a:stretch>
              <a:fillRect l="0" t="0" r="-2746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130374" y="392333"/>
            <a:ext cx="10027253" cy="110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¿QUÉ </a:t>
            </a:r>
            <a:r>
              <a:rPr lang="en-US" b="true" sz="7917" spc="-467" strike="noStrike" u="none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ES PITTYSOFT?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24151" y="1665961"/>
            <a:ext cx="8439698" cy="112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9"/>
              </a:lnSpc>
              <a:spcBef>
                <a:spcPct val="0"/>
              </a:spcBef>
            </a:pPr>
            <a:r>
              <a:rPr lang="en-US" b="true" sz="214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itt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yS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u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af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modular e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esarr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,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ien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tral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z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o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imiza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roc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dm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inist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s,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co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rc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onta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les de una e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del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br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óp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13997" y="5744984"/>
            <a:ext cx="4063089" cy="71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0"/>
              </a:lnSpc>
              <a:spcBef>
                <a:spcPct val="0"/>
              </a:spcBef>
            </a:pPr>
            <a:r>
              <a:rPr lang="en-US" b="true" sz="2064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Gestión de clientes, atención y procesos de venta.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30737" y="6635313"/>
            <a:ext cx="2029610" cy="71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0"/>
              </a:lnSpc>
            </a:pPr>
            <a:r>
              <a:rPr lang="en-US" sz="2064" b="tru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Responsable:</a:t>
            </a:r>
          </a:p>
          <a:p>
            <a:pPr algn="ctr" marL="0" indent="0" lvl="0">
              <a:lnSpc>
                <a:spcPts val="2890"/>
              </a:lnSpc>
              <a:spcBef>
                <a:spcPct val="0"/>
              </a:spcBef>
            </a:pPr>
            <a:r>
              <a:rPr lang="en-US" b="true" sz="2064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Axel Blanlot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37900" y="5766833"/>
            <a:ext cx="4063089" cy="1083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0"/>
              </a:lnSpc>
              <a:spcBef>
                <a:spcPct val="0"/>
              </a:spcBef>
            </a:pPr>
            <a:r>
              <a:rPr lang="en-US" b="true" sz="2064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Gestión de proveedores, facturas de compra y movimientos financieros.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64431" y="5823983"/>
            <a:ext cx="4063089" cy="1083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0"/>
              </a:lnSpc>
              <a:spcBef>
                <a:spcPct val="0"/>
              </a:spcBef>
            </a:pPr>
            <a:r>
              <a:rPr lang="en-US" b="true" sz="2064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Gestión de procesos contables, plan de cuentas e información tributaria.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63029" y="7069559"/>
            <a:ext cx="2702452" cy="71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0"/>
              </a:lnSpc>
            </a:pPr>
            <a:r>
              <a:rPr lang="en-US" sz="2064" b="tru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Responsable:</a:t>
            </a:r>
          </a:p>
          <a:p>
            <a:pPr algn="ctr" marL="0" indent="0" lvl="0">
              <a:lnSpc>
                <a:spcPts val="2890"/>
              </a:lnSpc>
              <a:spcBef>
                <a:spcPct val="0"/>
              </a:spcBef>
            </a:pPr>
            <a:r>
              <a:rPr lang="en-US" b="true" sz="2064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Gabriel Bermar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16848" y="9057124"/>
            <a:ext cx="9654305" cy="364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6"/>
              </a:lnSpc>
              <a:spcBef>
                <a:spcPct val="0"/>
              </a:spcBef>
            </a:pPr>
            <a:r>
              <a:rPr lang="en-US" b="true" sz="2147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Los tres módulos forman parte de una misma solución: PittySoft.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-8721467" y="54448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927566" y="-7112603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2332554" y="4270167"/>
            <a:ext cx="2392256" cy="743556"/>
            <a:chOff x="0" y="0"/>
            <a:chExt cx="635000" cy="19736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5000" cy="197369"/>
            </a:xfrm>
            <a:custGeom>
              <a:avLst/>
              <a:gdLst/>
              <a:ahLst/>
              <a:cxnLst/>
              <a:rect r="r" b="b" t="t" l="l"/>
              <a:pathLst>
                <a:path h="197369" w="635000">
                  <a:moveTo>
                    <a:pt x="63208" y="0"/>
                  </a:moveTo>
                  <a:lnTo>
                    <a:pt x="571792" y="0"/>
                  </a:lnTo>
                  <a:cubicBezTo>
                    <a:pt x="588556" y="0"/>
                    <a:pt x="604633" y="6659"/>
                    <a:pt x="616487" y="18513"/>
                  </a:cubicBezTo>
                  <a:cubicBezTo>
                    <a:pt x="628341" y="30367"/>
                    <a:pt x="635000" y="46444"/>
                    <a:pt x="635000" y="63208"/>
                  </a:cubicBezTo>
                  <a:lnTo>
                    <a:pt x="635000" y="134162"/>
                  </a:lnTo>
                  <a:cubicBezTo>
                    <a:pt x="635000" y="150925"/>
                    <a:pt x="628341" y="167002"/>
                    <a:pt x="616487" y="178856"/>
                  </a:cubicBezTo>
                  <a:cubicBezTo>
                    <a:pt x="604633" y="190710"/>
                    <a:pt x="588556" y="197369"/>
                    <a:pt x="571792" y="197369"/>
                  </a:cubicBezTo>
                  <a:lnTo>
                    <a:pt x="63208" y="197369"/>
                  </a:lnTo>
                  <a:cubicBezTo>
                    <a:pt x="46444" y="197369"/>
                    <a:pt x="30367" y="190710"/>
                    <a:pt x="18513" y="178856"/>
                  </a:cubicBezTo>
                  <a:cubicBezTo>
                    <a:pt x="6659" y="167002"/>
                    <a:pt x="0" y="150925"/>
                    <a:pt x="0" y="134162"/>
                  </a:cubicBezTo>
                  <a:lnTo>
                    <a:pt x="0" y="63208"/>
                  </a:lnTo>
                  <a:cubicBezTo>
                    <a:pt x="0" y="46444"/>
                    <a:pt x="6659" y="30367"/>
                    <a:pt x="18513" y="18513"/>
                  </a:cubicBezTo>
                  <a:cubicBezTo>
                    <a:pt x="30367" y="6659"/>
                    <a:pt x="46444" y="0"/>
                    <a:pt x="63208" y="0"/>
                  </a:cubicBezTo>
                  <a:close/>
                </a:path>
              </a:pathLst>
            </a:custGeom>
            <a:solidFill>
              <a:srgbClr val="BBD6E1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35000" cy="235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943850" y="4327131"/>
            <a:ext cx="1169663" cy="56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75"/>
              </a:lnSpc>
              <a:spcBef>
                <a:spcPct val="0"/>
              </a:spcBef>
            </a:pPr>
            <a:r>
              <a:rPr lang="en-US" b="true" sz="3268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</a:t>
            </a:r>
            <a:r>
              <a:rPr lang="en-US" b="true" sz="3268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518219" y="6972190"/>
            <a:ext cx="2702452" cy="71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0"/>
              </a:lnSpc>
            </a:pPr>
            <a:r>
              <a:rPr lang="en-US" sz="2064" b="tru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Responsable:</a:t>
            </a:r>
          </a:p>
          <a:p>
            <a:pPr algn="ctr" marL="0" indent="0" lvl="0">
              <a:lnSpc>
                <a:spcPts val="2890"/>
              </a:lnSpc>
              <a:spcBef>
                <a:spcPct val="0"/>
              </a:spcBef>
            </a:pPr>
            <a:r>
              <a:rPr lang="en-US" b="true" sz="2064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Sebastian Quezada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67193" y="5083907"/>
            <a:ext cx="335669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1850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Punt</a:t>
            </a:r>
            <a:r>
              <a:rPr lang="en-US" b="true" sz="2600">
                <a:solidFill>
                  <a:srgbClr val="1850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de Venta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7673317" y="4270167"/>
            <a:ext cx="2392256" cy="743556"/>
            <a:chOff x="0" y="0"/>
            <a:chExt cx="635000" cy="19736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5000" cy="197369"/>
            </a:xfrm>
            <a:custGeom>
              <a:avLst/>
              <a:gdLst/>
              <a:ahLst/>
              <a:cxnLst/>
              <a:rect r="r" b="b" t="t" l="l"/>
              <a:pathLst>
                <a:path h="197369" w="635000">
                  <a:moveTo>
                    <a:pt x="63208" y="0"/>
                  </a:moveTo>
                  <a:lnTo>
                    <a:pt x="571792" y="0"/>
                  </a:lnTo>
                  <a:cubicBezTo>
                    <a:pt x="588556" y="0"/>
                    <a:pt x="604633" y="6659"/>
                    <a:pt x="616487" y="18513"/>
                  </a:cubicBezTo>
                  <a:cubicBezTo>
                    <a:pt x="628341" y="30367"/>
                    <a:pt x="635000" y="46444"/>
                    <a:pt x="635000" y="63208"/>
                  </a:cubicBezTo>
                  <a:lnTo>
                    <a:pt x="635000" y="134162"/>
                  </a:lnTo>
                  <a:cubicBezTo>
                    <a:pt x="635000" y="150925"/>
                    <a:pt x="628341" y="167002"/>
                    <a:pt x="616487" y="178856"/>
                  </a:cubicBezTo>
                  <a:cubicBezTo>
                    <a:pt x="604633" y="190710"/>
                    <a:pt x="588556" y="197369"/>
                    <a:pt x="571792" y="197369"/>
                  </a:cubicBezTo>
                  <a:lnTo>
                    <a:pt x="63208" y="197369"/>
                  </a:lnTo>
                  <a:cubicBezTo>
                    <a:pt x="46444" y="197369"/>
                    <a:pt x="30367" y="190710"/>
                    <a:pt x="18513" y="178856"/>
                  </a:cubicBezTo>
                  <a:cubicBezTo>
                    <a:pt x="6659" y="167002"/>
                    <a:pt x="0" y="150925"/>
                    <a:pt x="0" y="134162"/>
                  </a:cubicBezTo>
                  <a:lnTo>
                    <a:pt x="0" y="63208"/>
                  </a:lnTo>
                  <a:cubicBezTo>
                    <a:pt x="0" y="46444"/>
                    <a:pt x="6659" y="30367"/>
                    <a:pt x="18513" y="18513"/>
                  </a:cubicBezTo>
                  <a:cubicBezTo>
                    <a:pt x="30367" y="6659"/>
                    <a:pt x="46444" y="0"/>
                    <a:pt x="63208" y="0"/>
                  </a:cubicBezTo>
                  <a:close/>
                </a:path>
              </a:pathLst>
            </a:custGeom>
            <a:solidFill>
              <a:srgbClr val="BBD6E1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35000" cy="235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7933240" y="4327131"/>
            <a:ext cx="1872410" cy="56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75"/>
              </a:lnSpc>
              <a:spcBef>
                <a:spcPct val="0"/>
              </a:spcBef>
            </a:pPr>
            <a:r>
              <a:rPr lang="en-US" b="true" sz="3268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SAP-lite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191096" y="5156598"/>
            <a:ext cx="335669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1850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Control de Gestión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535906" y="5156598"/>
            <a:ext cx="335669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1850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Contabilidad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2999848" y="4270167"/>
            <a:ext cx="2392256" cy="743556"/>
            <a:chOff x="0" y="0"/>
            <a:chExt cx="635000" cy="19736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35000" cy="197369"/>
            </a:xfrm>
            <a:custGeom>
              <a:avLst/>
              <a:gdLst/>
              <a:ahLst/>
              <a:cxnLst/>
              <a:rect r="r" b="b" t="t" l="l"/>
              <a:pathLst>
                <a:path h="197369" w="635000">
                  <a:moveTo>
                    <a:pt x="63208" y="0"/>
                  </a:moveTo>
                  <a:lnTo>
                    <a:pt x="571792" y="0"/>
                  </a:lnTo>
                  <a:cubicBezTo>
                    <a:pt x="588556" y="0"/>
                    <a:pt x="604633" y="6659"/>
                    <a:pt x="616487" y="18513"/>
                  </a:cubicBezTo>
                  <a:cubicBezTo>
                    <a:pt x="628341" y="30367"/>
                    <a:pt x="635000" y="46444"/>
                    <a:pt x="635000" y="63208"/>
                  </a:cubicBezTo>
                  <a:lnTo>
                    <a:pt x="635000" y="134162"/>
                  </a:lnTo>
                  <a:cubicBezTo>
                    <a:pt x="635000" y="150925"/>
                    <a:pt x="628341" y="167002"/>
                    <a:pt x="616487" y="178856"/>
                  </a:cubicBezTo>
                  <a:cubicBezTo>
                    <a:pt x="604633" y="190710"/>
                    <a:pt x="588556" y="197369"/>
                    <a:pt x="571792" y="197369"/>
                  </a:cubicBezTo>
                  <a:lnTo>
                    <a:pt x="63208" y="197369"/>
                  </a:lnTo>
                  <a:cubicBezTo>
                    <a:pt x="46444" y="197369"/>
                    <a:pt x="30367" y="190710"/>
                    <a:pt x="18513" y="178856"/>
                  </a:cubicBezTo>
                  <a:cubicBezTo>
                    <a:pt x="6659" y="167002"/>
                    <a:pt x="0" y="150925"/>
                    <a:pt x="0" y="134162"/>
                  </a:cubicBezTo>
                  <a:lnTo>
                    <a:pt x="0" y="63208"/>
                  </a:lnTo>
                  <a:cubicBezTo>
                    <a:pt x="0" y="46444"/>
                    <a:pt x="6659" y="30367"/>
                    <a:pt x="18513" y="18513"/>
                  </a:cubicBezTo>
                  <a:cubicBezTo>
                    <a:pt x="30367" y="6659"/>
                    <a:pt x="46444" y="0"/>
                    <a:pt x="63208" y="0"/>
                  </a:cubicBezTo>
                  <a:close/>
                </a:path>
              </a:pathLst>
            </a:custGeom>
            <a:solidFill>
              <a:srgbClr val="BBD6E1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635000" cy="235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3274778" y="4327131"/>
            <a:ext cx="1872410" cy="56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75"/>
              </a:lnSpc>
              <a:spcBef>
                <a:spcPct val="0"/>
              </a:spcBef>
            </a:pPr>
            <a:r>
              <a:rPr lang="en-US" b="true" sz="3268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Kuentas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49037" y="3271505"/>
            <a:ext cx="4588782" cy="458878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3338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733382" y="812800"/>
                  </a:lnTo>
                  <a:cubicBezTo>
                    <a:pt x="733382" y="769101"/>
                    <a:pt x="768721" y="733382"/>
                    <a:pt x="812800" y="733382"/>
                  </a:cubicBezTo>
                  <a:lnTo>
                    <a:pt x="812800" y="79418"/>
                  </a:lnTo>
                  <a:cubicBezTo>
                    <a:pt x="769101" y="79418"/>
                    <a:pt x="733382" y="44079"/>
                    <a:pt x="733382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38100" y="0"/>
              <a:ext cx="7366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174869" y="205523"/>
            <a:ext cx="10027253" cy="110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CONT</a:t>
            </a:r>
            <a:r>
              <a:rPr lang="en-US" b="true" sz="7917" spc="-467" strike="noStrike" u="none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EXTO ACTUAL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24151" y="1591200"/>
            <a:ext cx="8439698" cy="112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9"/>
              </a:lnSpc>
              <a:spcBef>
                <a:spcPct val="0"/>
              </a:spcBef>
            </a:pPr>
            <a:r>
              <a:rPr lang="en-US" b="true" sz="214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tualmente, la e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mpre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 u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tiliza disti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nta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plataforma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y fuen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tes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de infor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mac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ión para gestionar sus procesos comerciales, administrativos y contables.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2797" y="4706693"/>
            <a:ext cx="4241263" cy="249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</a:p>
          <a:p>
            <a:pPr algn="l" marL="476296" indent="-238148" lvl="1">
              <a:lnSpc>
                <a:spcPts val="3088"/>
              </a:lnSpc>
              <a:buFont typeface="Arial"/>
              <a:buChar char="•"/>
            </a:pPr>
            <a:r>
              <a:rPr lang="en-US" sz="2206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Clientes y fichas</a:t>
            </a:r>
          </a:p>
          <a:p>
            <a:pPr algn="l" marL="519475" indent="-259737" lvl="1">
              <a:lnSpc>
                <a:spcPts val="3368"/>
              </a:lnSpc>
              <a:buFont typeface="Arial"/>
              <a:buChar char="•"/>
            </a:pPr>
            <a:r>
              <a:rPr lang="en-US" sz="2406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Recetas</a:t>
            </a:r>
          </a:p>
          <a:p>
            <a:pPr algn="l" marL="519475" indent="-259737" lvl="1">
              <a:lnSpc>
                <a:spcPts val="3368"/>
              </a:lnSpc>
              <a:buFont typeface="Arial"/>
              <a:buChar char="•"/>
            </a:pPr>
            <a:r>
              <a:rPr lang="en-US" sz="2406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Ventas</a:t>
            </a:r>
          </a:p>
          <a:p>
            <a:pPr algn="l" marL="519475" indent="-259737" lvl="1">
              <a:lnSpc>
                <a:spcPts val="3368"/>
              </a:lnSpc>
              <a:buFont typeface="Arial"/>
              <a:buChar char="•"/>
            </a:pPr>
            <a:r>
              <a:rPr lang="en-US" sz="2406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Productos</a:t>
            </a:r>
          </a:p>
          <a:p>
            <a:pPr algn="l" marL="519475" indent="-259737" lvl="1">
              <a:lnSpc>
                <a:spcPts val="3368"/>
              </a:lnSpc>
              <a:buFont typeface="Arial"/>
              <a:buChar char="•"/>
            </a:pPr>
            <a:r>
              <a:rPr lang="en-US" sz="2406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Cuentas por cobrar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849609" y="3271505"/>
            <a:ext cx="4588782" cy="458878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3338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733382" y="812800"/>
                  </a:lnTo>
                  <a:cubicBezTo>
                    <a:pt x="733382" y="769101"/>
                    <a:pt x="768721" y="733382"/>
                    <a:pt x="812800" y="733382"/>
                  </a:cubicBezTo>
                  <a:lnTo>
                    <a:pt x="812800" y="79418"/>
                  </a:lnTo>
                  <a:cubicBezTo>
                    <a:pt x="769101" y="79418"/>
                    <a:pt x="733382" y="44079"/>
                    <a:pt x="733382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38100" y="0"/>
              <a:ext cx="7366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250181" y="3271505"/>
            <a:ext cx="4588782" cy="458878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3338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733382" y="812800"/>
                  </a:lnTo>
                  <a:cubicBezTo>
                    <a:pt x="733382" y="769101"/>
                    <a:pt x="768721" y="733382"/>
                    <a:pt x="812800" y="733382"/>
                  </a:cubicBezTo>
                  <a:lnTo>
                    <a:pt x="812800" y="79418"/>
                  </a:lnTo>
                  <a:cubicBezTo>
                    <a:pt x="769101" y="79418"/>
                    <a:pt x="733382" y="44079"/>
                    <a:pt x="733382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38100" y="0"/>
              <a:ext cx="7366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-10394155" y="-6369975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148395" y="-10444804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802148" y="3775543"/>
            <a:ext cx="584116" cy="557831"/>
          </a:xfrm>
          <a:custGeom>
            <a:avLst/>
            <a:gdLst/>
            <a:ahLst/>
            <a:cxnLst/>
            <a:rect r="r" b="b" t="t" l="l"/>
            <a:pathLst>
              <a:path h="557831" w="584116">
                <a:moveTo>
                  <a:pt x="0" y="0"/>
                </a:moveTo>
                <a:lnTo>
                  <a:pt x="584116" y="0"/>
                </a:lnTo>
                <a:lnTo>
                  <a:pt x="584116" y="557831"/>
                </a:lnTo>
                <a:lnTo>
                  <a:pt x="0" y="5578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170858" y="3730700"/>
            <a:ext cx="537808" cy="545998"/>
          </a:xfrm>
          <a:custGeom>
            <a:avLst/>
            <a:gdLst/>
            <a:ahLst/>
            <a:cxnLst/>
            <a:rect r="r" b="b" t="t" l="l"/>
            <a:pathLst>
              <a:path h="545998" w="537808">
                <a:moveTo>
                  <a:pt x="0" y="0"/>
                </a:moveTo>
                <a:lnTo>
                  <a:pt x="537808" y="0"/>
                </a:lnTo>
                <a:lnTo>
                  <a:pt x="537808" y="545998"/>
                </a:lnTo>
                <a:lnTo>
                  <a:pt x="0" y="5459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914766" y="3662014"/>
            <a:ext cx="621867" cy="683370"/>
          </a:xfrm>
          <a:custGeom>
            <a:avLst/>
            <a:gdLst/>
            <a:ahLst/>
            <a:cxnLst/>
            <a:rect r="r" b="b" t="t" l="l"/>
            <a:pathLst>
              <a:path h="683370" w="621867">
                <a:moveTo>
                  <a:pt x="0" y="0"/>
                </a:moveTo>
                <a:lnTo>
                  <a:pt x="621867" y="0"/>
                </a:lnTo>
                <a:lnTo>
                  <a:pt x="621867" y="683370"/>
                </a:lnTo>
                <a:lnTo>
                  <a:pt x="0" y="6833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457691" y="3764744"/>
            <a:ext cx="3298445" cy="52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88"/>
              </a:lnSpc>
              <a:spcBef>
                <a:spcPct val="0"/>
              </a:spcBef>
            </a:pPr>
            <a:r>
              <a:rPr lang="en-US" b="true" sz="3062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Área contable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19466" y="5383998"/>
            <a:ext cx="4241263" cy="123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475" indent="-259737" lvl="1">
              <a:lnSpc>
                <a:spcPts val="3368"/>
              </a:lnSpc>
              <a:buFont typeface="Arial"/>
              <a:buChar char="•"/>
            </a:pPr>
            <a:r>
              <a:rPr lang="en-US" sz="2406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Procesos contables</a:t>
            </a:r>
          </a:p>
          <a:p>
            <a:pPr algn="l" marL="519475" indent="-259737" lvl="1">
              <a:lnSpc>
                <a:spcPts val="3368"/>
              </a:lnSpc>
              <a:buFont typeface="Arial"/>
              <a:buChar char="•"/>
            </a:pPr>
            <a:r>
              <a:rPr lang="en-US" sz="2406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Plan de cuentas</a:t>
            </a:r>
          </a:p>
          <a:p>
            <a:pPr algn="l" marL="519475" indent="-259737" lvl="1">
              <a:lnSpc>
                <a:spcPts val="3368"/>
              </a:lnSpc>
              <a:buFont typeface="Arial"/>
              <a:buChar char="•"/>
            </a:pPr>
            <a:r>
              <a:rPr lang="en-US" sz="2406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Registros financieros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67600" y="3785394"/>
            <a:ext cx="3047542" cy="52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88"/>
              </a:lnSpc>
              <a:spcBef>
                <a:spcPct val="0"/>
              </a:spcBef>
            </a:pPr>
            <a:r>
              <a:rPr lang="en-US" b="true" sz="3062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Área comercial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719185" y="3775069"/>
            <a:ext cx="3719206" cy="501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97"/>
              </a:lnSpc>
              <a:spcBef>
                <a:spcPct val="0"/>
              </a:spcBef>
            </a:pPr>
            <a:r>
              <a:rPr lang="en-US" b="true" sz="2926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Área administrativa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279536" y="5383998"/>
            <a:ext cx="3817918" cy="815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475" indent="-259737" lvl="1">
              <a:lnSpc>
                <a:spcPts val="3368"/>
              </a:lnSpc>
              <a:buFont typeface="Arial"/>
              <a:buChar char="•"/>
            </a:pPr>
            <a:r>
              <a:rPr lang="en-US" sz="2406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MasContable</a:t>
            </a:r>
          </a:p>
          <a:p>
            <a:pPr algn="l" marL="519475" indent="-259737" lvl="1">
              <a:lnSpc>
                <a:spcPts val="3368"/>
              </a:lnSpc>
              <a:buFont typeface="Arial"/>
              <a:buChar char="•"/>
            </a:pPr>
            <a:r>
              <a:rPr lang="en-US" sz="2406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MasRemuneraciones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71714" y="8136511"/>
            <a:ext cx="3743428" cy="112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9"/>
              </a:lnSpc>
              <a:spcBef>
                <a:spcPct val="0"/>
              </a:spcBef>
            </a:pPr>
            <a:r>
              <a:rPr lang="en-US" b="true" sz="214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BS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ale, Excel, sistema de cita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s,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lab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documen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tos físicos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305951" y="4500319"/>
            <a:ext cx="1111250" cy="44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1850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OPTOL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317468" y="4492064"/>
            <a:ext cx="1653064" cy="44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1850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MasTecno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272286" y="8136511"/>
            <a:ext cx="3743428" cy="112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9"/>
              </a:lnSpc>
              <a:spcBef>
                <a:spcPct val="0"/>
              </a:spcBef>
            </a:pPr>
            <a:r>
              <a:rPr lang="en-US" b="true" sz="214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ancos, cartolas, Excel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, PDF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y documentación física.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672858" y="8136511"/>
            <a:ext cx="3743428" cy="36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9"/>
              </a:lnSpc>
              <a:spcBef>
                <a:spcPct val="0"/>
              </a:spcBef>
            </a:pPr>
            <a:r>
              <a:rPr lang="en-US" b="true" sz="214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SII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e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inf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ormación tributaria.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466977" y="4500319"/>
            <a:ext cx="2155190" cy="44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1850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MasContable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2047991" y="-6471760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3174" y="198583"/>
            <a:ext cx="8718743" cy="2193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METODOLOGÍA DE TRABAJO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3270" y="2470861"/>
            <a:ext cx="3043725" cy="472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68"/>
              </a:lnSpc>
              <a:spcBef>
                <a:spcPct val="0"/>
              </a:spcBef>
            </a:pPr>
            <a:r>
              <a:rPr lang="en-US" b="true" sz="2763" u="sng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Enfoque hibrido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9884162" y="4227983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758129" y="1182111"/>
            <a:ext cx="5356998" cy="7047112"/>
            <a:chOff x="0" y="0"/>
            <a:chExt cx="812800" cy="10692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1069236"/>
            </a:xfrm>
            <a:custGeom>
              <a:avLst/>
              <a:gdLst/>
              <a:ahLst/>
              <a:cxnLst/>
              <a:rect r="r" b="b" t="t" l="l"/>
              <a:pathLst>
                <a:path h="1069236" w="812800">
                  <a:moveTo>
                    <a:pt x="33240" y="0"/>
                  </a:moveTo>
                  <a:lnTo>
                    <a:pt x="779560" y="0"/>
                  </a:lnTo>
                  <a:cubicBezTo>
                    <a:pt x="797918" y="0"/>
                    <a:pt x="812800" y="14882"/>
                    <a:pt x="812800" y="33240"/>
                  </a:cubicBezTo>
                  <a:lnTo>
                    <a:pt x="812800" y="1035996"/>
                  </a:lnTo>
                  <a:cubicBezTo>
                    <a:pt x="812800" y="1054354"/>
                    <a:pt x="797918" y="1069236"/>
                    <a:pt x="779560" y="1069236"/>
                  </a:cubicBezTo>
                  <a:lnTo>
                    <a:pt x="33240" y="1069236"/>
                  </a:lnTo>
                  <a:cubicBezTo>
                    <a:pt x="14882" y="1069236"/>
                    <a:pt x="0" y="1054354"/>
                    <a:pt x="0" y="1035996"/>
                  </a:cubicBezTo>
                  <a:lnTo>
                    <a:pt x="0" y="33240"/>
                  </a:lnTo>
                  <a:cubicBezTo>
                    <a:pt x="0" y="14882"/>
                    <a:pt x="14882" y="0"/>
                    <a:pt x="33240" y="0"/>
                  </a:cubicBezTo>
                  <a:close/>
                </a:path>
              </a:pathLst>
            </a:custGeom>
            <a:blipFill>
              <a:blip r:embed="rId4"/>
              <a:stretch>
                <a:fillRect l="-60083" t="0" r="-60083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723270" y="4189883"/>
            <a:ext cx="8155112" cy="1126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8"/>
              </a:lnSpc>
              <a:spcBef>
                <a:spcPct val="0"/>
              </a:spcBef>
            </a:pPr>
            <a:r>
              <a:rPr lang="en-US" b="true" sz="216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Spec-Driven Development (SDD): </a:t>
            </a:r>
            <a:r>
              <a:rPr lang="en-US" sz="2163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Elegido por su trazabilidad entre requerimientos, SPEC, criterios de aceptación y funcionalidades desarrolladas.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3174" y="6030763"/>
            <a:ext cx="8155112" cy="1126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8"/>
              </a:lnSpc>
              <a:spcBef>
                <a:spcPct val="0"/>
              </a:spcBef>
            </a:pPr>
            <a:r>
              <a:rPr lang="en-US" b="true" sz="216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Scrum — Complemento: </a:t>
            </a:r>
            <a:r>
              <a:rPr lang="en-US" sz="2163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Incorporamos prácticas de planificación, Backlog, priorización y revisión periódica de avances.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52590" y="8864769"/>
            <a:ext cx="1727157" cy="536831"/>
            <a:chOff x="0" y="0"/>
            <a:chExt cx="635000" cy="1973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" cy="197369"/>
            </a:xfrm>
            <a:custGeom>
              <a:avLst/>
              <a:gdLst/>
              <a:ahLst/>
              <a:cxnLst/>
              <a:rect r="r" b="b" t="t" l="l"/>
              <a:pathLst>
                <a:path h="197369" w="635000">
                  <a:moveTo>
                    <a:pt x="87548" y="0"/>
                  </a:moveTo>
                  <a:lnTo>
                    <a:pt x="547452" y="0"/>
                  </a:lnTo>
                  <a:cubicBezTo>
                    <a:pt x="595803" y="0"/>
                    <a:pt x="635000" y="39197"/>
                    <a:pt x="635000" y="87548"/>
                  </a:cubicBezTo>
                  <a:lnTo>
                    <a:pt x="635000" y="109821"/>
                  </a:lnTo>
                  <a:cubicBezTo>
                    <a:pt x="635000" y="158173"/>
                    <a:pt x="595803" y="197369"/>
                    <a:pt x="547452" y="197369"/>
                  </a:cubicBezTo>
                  <a:lnTo>
                    <a:pt x="87548" y="197369"/>
                  </a:lnTo>
                  <a:cubicBezTo>
                    <a:pt x="39197" y="197369"/>
                    <a:pt x="0" y="158173"/>
                    <a:pt x="0" y="109821"/>
                  </a:cubicBezTo>
                  <a:lnTo>
                    <a:pt x="0" y="87548"/>
                  </a:lnTo>
                  <a:cubicBezTo>
                    <a:pt x="0" y="39197"/>
                    <a:pt x="39197" y="0"/>
                    <a:pt x="87548" y="0"/>
                  </a:cubicBez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35000" cy="235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251600" y="8864769"/>
            <a:ext cx="1727157" cy="536831"/>
            <a:chOff x="0" y="0"/>
            <a:chExt cx="635000" cy="1973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" cy="197369"/>
            </a:xfrm>
            <a:custGeom>
              <a:avLst/>
              <a:gdLst/>
              <a:ahLst/>
              <a:cxnLst/>
              <a:rect r="r" b="b" t="t" l="l"/>
              <a:pathLst>
                <a:path h="197369" w="635000">
                  <a:moveTo>
                    <a:pt x="87548" y="0"/>
                  </a:moveTo>
                  <a:lnTo>
                    <a:pt x="547452" y="0"/>
                  </a:lnTo>
                  <a:cubicBezTo>
                    <a:pt x="595803" y="0"/>
                    <a:pt x="635000" y="39197"/>
                    <a:pt x="635000" y="87548"/>
                  </a:cubicBezTo>
                  <a:lnTo>
                    <a:pt x="635000" y="109821"/>
                  </a:lnTo>
                  <a:cubicBezTo>
                    <a:pt x="635000" y="158173"/>
                    <a:pt x="595803" y="197369"/>
                    <a:pt x="547452" y="197369"/>
                  </a:cubicBezTo>
                  <a:lnTo>
                    <a:pt x="87548" y="197369"/>
                  </a:lnTo>
                  <a:cubicBezTo>
                    <a:pt x="39197" y="197369"/>
                    <a:pt x="0" y="158173"/>
                    <a:pt x="0" y="109821"/>
                  </a:cubicBezTo>
                  <a:lnTo>
                    <a:pt x="0" y="87548"/>
                  </a:lnTo>
                  <a:cubicBezTo>
                    <a:pt x="0" y="39197"/>
                    <a:pt x="39197" y="0"/>
                    <a:pt x="87548" y="0"/>
                  </a:cubicBez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35000" cy="235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550610" y="8864769"/>
            <a:ext cx="1727157" cy="536831"/>
            <a:chOff x="0" y="0"/>
            <a:chExt cx="635000" cy="1973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" cy="197369"/>
            </a:xfrm>
            <a:custGeom>
              <a:avLst/>
              <a:gdLst/>
              <a:ahLst/>
              <a:cxnLst/>
              <a:rect r="r" b="b" t="t" l="l"/>
              <a:pathLst>
                <a:path h="197369" w="635000">
                  <a:moveTo>
                    <a:pt x="87548" y="0"/>
                  </a:moveTo>
                  <a:lnTo>
                    <a:pt x="547452" y="0"/>
                  </a:lnTo>
                  <a:cubicBezTo>
                    <a:pt x="595803" y="0"/>
                    <a:pt x="635000" y="39197"/>
                    <a:pt x="635000" y="87548"/>
                  </a:cubicBezTo>
                  <a:lnTo>
                    <a:pt x="635000" y="109821"/>
                  </a:lnTo>
                  <a:cubicBezTo>
                    <a:pt x="635000" y="158173"/>
                    <a:pt x="595803" y="197369"/>
                    <a:pt x="547452" y="197369"/>
                  </a:cubicBezTo>
                  <a:lnTo>
                    <a:pt x="87548" y="197369"/>
                  </a:lnTo>
                  <a:cubicBezTo>
                    <a:pt x="39197" y="197369"/>
                    <a:pt x="0" y="158173"/>
                    <a:pt x="0" y="109821"/>
                  </a:cubicBezTo>
                  <a:lnTo>
                    <a:pt x="0" y="87548"/>
                  </a:lnTo>
                  <a:cubicBezTo>
                    <a:pt x="0" y="39197"/>
                    <a:pt x="39197" y="0"/>
                    <a:pt x="87548" y="0"/>
                  </a:cubicBez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35000" cy="235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849620" y="8864769"/>
            <a:ext cx="1727157" cy="536831"/>
            <a:chOff x="0" y="0"/>
            <a:chExt cx="635000" cy="1973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" cy="197369"/>
            </a:xfrm>
            <a:custGeom>
              <a:avLst/>
              <a:gdLst/>
              <a:ahLst/>
              <a:cxnLst/>
              <a:rect r="r" b="b" t="t" l="l"/>
              <a:pathLst>
                <a:path h="197369" w="635000">
                  <a:moveTo>
                    <a:pt x="87548" y="0"/>
                  </a:moveTo>
                  <a:lnTo>
                    <a:pt x="547452" y="0"/>
                  </a:lnTo>
                  <a:cubicBezTo>
                    <a:pt x="595803" y="0"/>
                    <a:pt x="635000" y="39197"/>
                    <a:pt x="635000" y="87548"/>
                  </a:cubicBezTo>
                  <a:lnTo>
                    <a:pt x="635000" y="109821"/>
                  </a:lnTo>
                  <a:cubicBezTo>
                    <a:pt x="635000" y="158173"/>
                    <a:pt x="595803" y="197369"/>
                    <a:pt x="547452" y="197369"/>
                  </a:cubicBezTo>
                  <a:lnTo>
                    <a:pt x="87548" y="197369"/>
                  </a:lnTo>
                  <a:cubicBezTo>
                    <a:pt x="39197" y="197369"/>
                    <a:pt x="0" y="158173"/>
                    <a:pt x="0" y="109821"/>
                  </a:cubicBezTo>
                  <a:lnTo>
                    <a:pt x="0" y="87548"/>
                  </a:lnTo>
                  <a:cubicBezTo>
                    <a:pt x="0" y="39197"/>
                    <a:pt x="39197" y="0"/>
                    <a:pt x="87548" y="0"/>
                  </a:cubicBez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35000" cy="235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148629" y="8864769"/>
            <a:ext cx="1727157" cy="536831"/>
            <a:chOff x="0" y="0"/>
            <a:chExt cx="635000" cy="19736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5000" cy="197369"/>
            </a:xfrm>
            <a:custGeom>
              <a:avLst/>
              <a:gdLst/>
              <a:ahLst/>
              <a:cxnLst/>
              <a:rect r="r" b="b" t="t" l="l"/>
              <a:pathLst>
                <a:path h="197369" w="635000">
                  <a:moveTo>
                    <a:pt x="87548" y="0"/>
                  </a:moveTo>
                  <a:lnTo>
                    <a:pt x="547452" y="0"/>
                  </a:lnTo>
                  <a:cubicBezTo>
                    <a:pt x="595803" y="0"/>
                    <a:pt x="635000" y="39197"/>
                    <a:pt x="635000" y="87548"/>
                  </a:cubicBezTo>
                  <a:lnTo>
                    <a:pt x="635000" y="109821"/>
                  </a:lnTo>
                  <a:cubicBezTo>
                    <a:pt x="635000" y="158173"/>
                    <a:pt x="595803" y="197369"/>
                    <a:pt x="547452" y="197369"/>
                  </a:cubicBezTo>
                  <a:lnTo>
                    <a:pt x="87548" y="197369"/>
                  </a:lnTo>
                  <a:cubicBezTo>
                    <a:pt x="39197" y="197369"/>
                    <a:pt x="0" y="158173"/>
                    <a:pt x="0" y="109821"/>
                  </a:cubicBezTo>
                  <a:lnTo>
                    <a:pt x="0" y="87548"/>
                  </a:lnTo>
                  <a:cubicBezTo>
                    <a:pt x="0" y="39197"/>
                    <a:pt x="39197" y="0"/>
                    <a:pt x="87548" y="0"/>
                  </a:cubicBez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35000" cy="235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447639" y="8864769"/>
            <a:ext cx="1727157" cy="536831"/>
            <a:chOff x="0" y="0"/>
            <a:chExt cx="635000" cy="19736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" cy="197369"/>
            </a:xfrm>
            <a:custGeom>
              <a:avLst/>
              <a:gdLst/>
              <a:ahLst/>
              <a:cxnLst/>
              <a:rect r="r" b="b" t="t" l="l"/>
              <a:pathLst>
                <a:path h="197369" w="635000">
                  <a:moveTo>
                    <a:pt x="87548" y="0"/>
                  </a:moveTo>
                  <a:lnTo>
                    <a:pt x="547452" y="0"/>
                  </a:lnTo>
                  <a:cubicBezTo>
                    <a:pt x="595803" y="0"/>
                    <a:pt x="635000" y="39197"/>
                    <a:pt x="635000" y="87548"/>
                  </a:cubicBezTo>
                  <a:lnTo>
                    <a:pt x="635000" y="109821"/>
                  </a:lnTo>
                  <a:cubicBezTo>
                    <a:pt x="635000" y="158173"/>
                    <a:pt x="595803" y="197369"/>
                    <a:pt x="547452" y="197369"/>
                  </a:cubicBezTo>
                  <a:lnTo>
                    <a:pt x="87548" y="197369"/>
                  </a:lnTo>
                  <a:cubicBezTo>
                    <a:pt x="39197" y="197369"/>
                    <a:pt x="0" y="158173"/>
                    <a:pt x="0" y="109821"/>
                  </a:cubicBezTo>
                  <a:lnTo>
                    <a:pt x="0" y="87548"/>
                  </a:lnTo>
                  <a:cubicBezTo>
                    <a:pt x="0" y="39197"/>
                    <a:pt x="39197" y="0"/>
                    <a:pt x="87548" y="0"/>
                  </a:cubicBez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35000" cy="235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746649" y="8864769"/>
            <a:ext cx="1727157" cy="536831"/>
            <a:chOff x="0" y="0"/>
            <a:chExt cx="635000" cy="19736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5000" cy="197369"/>
            </a:xfrm>
            <a:custGeom>
              <a:avLst/>
              <a:gdLst/>
              <a:ahLst/>
              <a:cxnLst/>
              <a:rect r="r" b="b" t="t" l="l"/>
              <a:pathLst>
                <a:path h="197369" w="635000">
                  <a:moveTo>
                    <a:pt x="87548" y="0"/>
                  </a:moveTo>
                  <a:lnTo>
                    <a:pt x="547452" y="0"/>
                  </a:lnTo>
                  <a:cubicBezTo>
                    <a:pt x="595803" y="0"/>
                    <a:pt x="635000" y="39197"/>
                    <a:pt x="635000" y="87548"/>
                  </a:cubicBezTo>
                  <a:lnTo>
                    <a:pt x="635000" y="109821"/>
                  </a:lnTo>
                  <a:cubicBezTo>
                    <a:pt x="635000" y="158173"/>
                    <a:pt x="595803" y="197369"/>
                    <a:pt x="547452" y="197369"/>
                  </a:cubicBezTo>
                  <a:lnTo>
                    <a:pt x="87548" y="197369"/>
                  </a:lnTo>
                  <a:cubicBezTo>
                    <a:pt x="39197" y="197369"/>
                    <a:pt x="0" y="158173"/>
                    <a:pt x="0" y="109821"/>
                  </a:cubicBezTo>
                  <a:lnTo>
                    <a:pt x="0" y="87548"/>
                  </a:lnTo>
                  <a:cubicBezTo>
                    <a:pt x="0" y="39197"/>
                    <a:pt x="39197" y="0"/>
                    <a:pt x="87548" y="0"/>
                  </a:cubicBez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35000" cy="235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952590" y="8973157"/>
            <a:ext cx="1678608" cy="28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9"/>
              </a:lnSpc>
            </a:pPr>
            <a:r>
              <a:rPr lang="en-US" sz="164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Requerimiento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251600" y="8973157"/>
            <a:ext cx="1678608" cy="28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9"/>
              </a:lnSpc>
            </a:pPr>
            <a:r>
              <a:rPr lang="en-US" sz="164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SPEC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550610" y="8973157"/>
            <a:ext cx="1678608" cy="28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9"/>
              </a:lnSpc>
            </a:pPr>
            <a:r>
              <a:rPr lang="en-US" sz="164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Diseño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849620" y="8973157"/>
            <a:ext cx="1678608" cy="28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9"/>
              </a:lnSpc>
            </a:pPr>
            <a:r>
              <a:rPr lang="en-US" sz="164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Desarrollo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148629" y="8973157"/>
            <a:ext cx="1678608" cy="28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9"/>
              </a:lnSpc>
            </a:pPr>
            <a:r>
              <a:rPr lang="en-US" sz="164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Pruebas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47639" y="8973157"/>
            <a:ext cx="1678608" cy="28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9"/>
              </a:lnSpc>
            </a:pPr>
            <a:r>
              <a:rPr lang="en-US" sz="164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Validación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746649" y="8973157"/>
            <a:ext cx="1678608" cy="28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9"/>
              </a:lnSpc>
            </a:pPr>
            <a:r>
              <a:rPr lang="en-US" sz="164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Corrección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2766545" y="9077429"/>
            <a:ext cx="398258" cy="111512"/>
          </a:xfrm>
          <a:custGeom>
            <a:avLst/>
            <a:gdLst/>
            <a:ahLst/>
            <a:cxnLst/>
            <a:rect r="r" b="b" t="t" l="l"/>
            <a:pathLst>
              <a:path h="111512" w="398258">
                <a:moveTo>
                  <a:pt x="0" y="0"/>
                </a:moveTo>
                <a:lnTo>
                  <a:pt x="398257" y="0"/>
                </a:lnTo>
                <a:lnTo>
                  <a:pt x="398257" y="111512"/>
                </a:lnTo>
                <a:lnTo>
                  <a:pt x="0" y="111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5064482" y="9077429"/>
            <a:ext cx="398258" cy="111512"/>
          </a:xfrm>
          <a:custGeom>
            <a:avLst/>
            <a:gdLst/>
            <a:ahLst/>
            <a:cxnLst/>
            <a:rect r="r" b="b" t="t" l="l"/>
            <a:pathLst>
              <a:path h="111512" w="398258">
                <a:moveTo>
                  <a:pt x="0" y="0"/>
                </a:moveTo>
                <a:lnTo>
                  <a:pt x="398257" y="0"/>
                </a:lnTo>
                <a:lnTo>
                  <a:pt x="398257" y="111512"/>
                </a:lnTo>
                <a:lnTo>
                  <a:pt x="0" y="111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7362419" y="9077429"/>
            <a:ext cx="398258" cy="111512"/>
          </a:xfrm>
          <a:custGeom>
            <a:avLst/>
            <a:gdLst/>
            <a:ahLst/>
            <a:cxnLst/>
            <a:rect r="r" b="b" t="t" l="l"/>
            <a:pathLst>
              <a:path h="111512" w="398258">
                <a:moveTo>
                  <a:pt x="0" y="0"/>
                </a:moveTo>
                <a:lnTo>
                  <a:pt x="398258" y="0"/>
                </a:lnTo>
                <a:lnTo>
                  <a:pt x="398258" y="111512"/>
                </a:lnTo>
                <a:lnTo>
                  <a:pt x="0" y="111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9660356" y="9077429"/>
            <a:ext cx="398258" cy="111512"/>
          </a:xfrm>
          <a:custGeom>
            <a:avLst/>
            <a:gdLst/>
            <a:ahLst/>
            <a:cxnLst/>
            <a:rect r="r" b="b" t="t" l="l"/>
            <a:pathLst>
              <a:path h="111512" w="398258">
                <a:moveTo>
                  <a:pt x="0" y="0"/>
                </a:moveTo>
                <a:lnTo>
                  <a:pt x="398258" y="0"/>
                </a:lnTo>
                <a:lnTo>
                  <a:pt x="398258" y="111512"/>
                </a:lnTo>
                <a:lnTo>
                  <a:pt x="0" y="111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1958293" y="9077429"/>
            <a:ext cx="398258" cy="111512"/>
          </a:xfrm>
          <a:custGeom>
            <a:avLst/>
            <a:gdLst/>
            <a:ahLst/>
            <a:cxnLst/>
            <a:rect r="r" b="b" t="t" l="l"/>
            <a:pathLst>
              <a:path h="111512" w="398258">
                <a:moveTo>
                  <a:pt x="0" y="0"/>
                </a:moveTo>
                <a:lnTo>
                  <a:pt x="398258" y="0"/>
                </a:lnTo>
                <a:lnTo>
                  <a:pt x="398258" y="111512"/>
                </a:lnTo>
                <a:lnTo>
                  <a:pt x="0" y="111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4256230" y="9077429"/>
            <a:ext cx="398258" cy="111512"/>
          </a:xfrm>
          <a:custGeom>
            <a:avLst/>
            <a:gdLst/>
            <a:ahLst/>
            <a:cxnLst/>
            <a:rect r="r" b="b" t="t" l="l"/>
            <a:pathLst>
              <a:path h="111512" w="398258">
                <a:moveTo>
                  <a:pt x="0" y="0"/>
                </a:moveTo>
                <a:lnTo>
                  <a:pt x="398258" y="0"/>
                </a:lnTo>
                <a:lnTo>
                  <a:pt x="398258" y="111512"/>
                </a:lnTo>
                <a:lnTo>
                  <a:pt x="0" y="111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723270" y="3340050"/>
            <a:ext cx="8155112" cy="36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8"/>
              </a:lnSpc>
              <a:spcBef>
                <a:spcPct val="0"/>
              </a:spcBef>
            </a:pPr>
            <a:r>
              <a:rPr lang="en-US" b="true" sz="216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Metodologías evaluadas: </a:t>
            </a:r>
            <a:r>
              <a:rPr lang="en-US" sz="2163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Scrum  · SDD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84477" y="-8545988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81733" y="5029251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8"/>
                </a:lnTo>
                <a:lnTo>
                  <a:pt x="0" y="13575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92990" y="1370105"/>
            <a:ext cx="6137206" cy="6446966"/>
            <a:chOff x="0" y="0"/>
            <a:chExt cx="2158464" cy="22674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8464" cy="2267407"/>
            </a:xfrm>
            <a:custGeom>
              <a:avLst/>
              <a:gdLst/>
              <a:ahLst/>
              <a:cxnLst/>
              <a:rect r="r" b="b" t="t" l="l"/>
              <a:pathLst>
                <a:path h="2267407" w="2158464">
                  <a:moveTo>
                    <a:pt x="64335" y="0"/>
                  </a:moveTo>
                  <a:lnTo>
                    <a:pt x="2094129" y="0"/>
                  </a:lnTo>
                  <a:cubicBezTo>
                    <a:pt x="2111192" y="0"/>
                    <a:pt x="2127556" y="6778"/>
                    <a:pt x="2139621" y="18843"/>
                  </a:cubicBezTo>
                  <a:cubicBezTo>
                    <a:pt x="2151686" y="30908"/>
                    <a:pt x="2158464" y="47272"/>
                    <a:pt x="2158464" y="64335"/>
                  </a:cubicBezTo>
                  <a:lnTo>
                    <a:pt x="2158464" y="2203072"/>
                  </a:lnTo>
                  <a:cubicBezTo>
                    <a:pt x="2158464" y="2238603"/>
                    <a:pt x="2129660" y="2267407"/>
                    <a:pt x="2094129" y="2267407"/>
                  </a:cubicBezTo>
                  <a:lnTo>
                    <a:pt x="64335" y="2267407"/>
                  </a:lnTo>
                  <a:cubicBezTo>
                    <a:pt x="47272" y="2267407"/>
                    <a:pt x="30908" y="2260629"/>
                    <a:pt x="18843" y="2248564"/>
                  </a:cubicBezTo>
                  <a:cubicBezTo>
                    <a:pt x="6778" y="2236499"/>
                    <a:pt x="0" y="2220135"/>
                    <a:pt x="0" y="2203072"/>
                  </a:cubicBezTo>
                  <a:lnTo>
                    <a:pt x="0" y="64335"/>
                  </a:lnTo>
                  <a:cubicBezTo>
                    <a:pt x="0" y="28804"/>
                    <a:pt x="28804" y="0"/>
                    <a:pt x="64335" y="0"/>
                  </a:cubicBezTo>
                  <a:close/>
                </a:path>
              </a:pathLst>
            </a:custGeom>
            <a:solidFill>
              <a:srgbClr val="95BFD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2158464" cy="2219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7029249" y="1438932"/>
            <a:ext cx="10485624" cy="6189918"/>
          </a:xfrm>
          <a:custGeom>
            <a:avLst/>
            <a:gdLst/>
            <a:ahLst/>
            <a:cxnLst/>
            <a:rect r="r" b="b" t="t" l="l"/>
            <a:pathLst>
              <a:path h="6189918" w="10485624">
                <a:moveTo>
                  <a:pt x="0" y="0"/>
                </a:moveTo>
                <a:lnTo>
                  <a:pt x="10485623" y="0"/>
                </a:lnTo>
                <a:lnTo>
                  <a:pt x="10485623" y="6189917"/>
                </a:lnTo>
                <a:lnTo>
                  <a:pt x="0" y="61899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97" t="0" r="-18813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92990" y="373009"/>
            <a:ext cx="8651010" cy="793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35"/>
              </a:lnSpc>
              <a:spcBef>
                <a:spcPct val="0"/>
              </a:spcBef>
            </a:pPr>
            <a:r>
              <a:rPr lang="en-US" b="true" sz="5588" spc="-329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AVANCE MODULO POS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7515" y="1602626"/>
            <a:ext cx="4766199" cy="388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1"/>
              </a:lnSpc>
              <a:spcBef>
                <a:spcPct val="0"/>
              </a:spcBef>
            </a:pPr>
            <a:r>
              <a:rPr lang="en-US" b="true" sz="2760" spc="-162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Funcionalidades desarrolladas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2990" y="2318107"/>
            <a:ext cx="5960345" cy="521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987" indent="-241493" lvl="1">
              <a:lnSpc>
                <a:spcPts val="2416"/>
              </a:lnSpc>
              <a:buFont typeface="Arial"/>
              <a:buChar char="•"/>
            </a:pPr>
            <a:r>
              <a:rPr lang="en-US" sz="2237" spc="-131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Gestión de clientes, productos y flujo completo de venta.</a:t>
            </a:r>
          </a:p>
          <a:p>
            <a:pPr algn="l">
              <a:lnSpc>
                <a:spcPts val="2416"/>
              </a:lnSpc>
            </a:pPr>
          </a:p>
          <a:p>
            <a:pPr algn="l" marL="482987" indent="-241493" lvl="1">
              <a:lnSpc>
                <a:spcPts val="2416"/>
              </a:lnSpc>
              <a:buFont typeface="Arial"/>
              <a:buChar char="•"/>
            </a:pPr>
            <a:r>
              <a:rPr lang="en-US" sz="2237" spc="-131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Carrito de compra, descuentos y diferentes medios de pago.</a:t>
            </a:r>
          </a:p>
          <a:p>
            <a:pPr algn="l">
              <a:lnSpc>
                <a:spcPts val="2416"/>
              </a:lnSpc>
            </a:pPr>
          </a:p>
          <a:p>
            <a:pPr algn="l" marL="482987" indent="-241493" lvl="1">
              <a:lnSpc>
                <a:spcPts val="2416"/>
              </a:lnSpc>
              <a:buFont typeface="Arial"/>
              <a:buChar char="•"/>
            </a:pPr>
            <a:r>
              <a:rPr lang="en-US" sz="2237" spc="-131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Integración con Bsale y Mercado Pago Point, con pruebas en entornos configurables.</a:t>
            </a:r>
          </a:p>
          <a:p>
            <a:pPr algn="l">
              <a:lnSpc>
                <a:spcPts val="2416"/>
              </a:lnSpc>
            </a:pPr>
          </a:p>
          <a:p>
            <a:pPr algn="l" marL="482987" indent="-241493" lvl="1">
              <a:lnSpc>
                <a:spcPts val="2416"/>
              </a:lnSpc>
              <a:buFont typeface="Arial"/>
              <a:buChar char="•"/>
            </a:pPr>
            <a:r>
              <a:rPr lang="en-US" sz="2237" spc="-131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Agenda de citas por sucursal y optometrista.</a:t>
            </a:r>
          </a:p>
          <a:p>
            <a:pPr algn="l">
              <a:lnSpc>
                <a:spcPts val="2416"/>
              </a:lnSpc>
            </a:pPr>
          </a:p>
          <a:p>
            <a:pPr algn="l" marL="482987" indent="-241493" lvl="1">
              <a:lnSpc>
                <a:spcPts val="2416"/>
              </a:lnSpc>
              <a:buFont typeface="Arial"/>
              <a:buChar char="•"/>
            </a:pPr>
            <a:r>
              <a:rPr lang="en-US" sz="2237" spc="-131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Gestión de devoluciones, abonos y ventas por cobrar.</a:t>
            </a:r>
          </a:p>
          <a:p>
            <a:pPr algn="l">
              <a:lnSpc>
                <a:spcPts val="2416"/>
              </a:lnSpc>
            </a:pPr>
          </a:p>
          <a:p>
            <a:pPr algn="l" marL="482987" indent="-241493" lvl="1">
              <a:lnSpc>
                <a:spcPts val="2416"/>
              </a:lnSpc>
              <a:buFont typeface="Arial"/>
              <a:buChar char="•"/>
            </a:pPr>
            <a:r>
              <a:rPr lang="en-US" sz="2237" spc="-131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Dashboard, historial de ventas y órdenes de laboratorio.</a:t>
            </a:r>
          </a:p>
          <a:p>
            <a:pPr algn="l" marL="0" indent="0" lvl="0">
              <a:lnSpc>
                <a:spcPts val="2416"/>
              </a:lnSpc>
              <a:spcBef>
                <a:spcPct val="0"/>
              </a:spcBef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492990" y="8038424"/>
            <a:ext cx="12506782" cy="2051062"/>
            <a:chOff x="0" y="0"/>
            <a:chExt cx="4398653" cy="7213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98653" cy="721361"/>
            </a:xfrm>
            <a:custGeom>
              <a:avLst/>
              <a:gdLst/>
              <a:ahLst/>
              <a:cxnLst/>
              <a:rect r="r" b="b" t="t" l="l"/>
              <a:pathLst>
                <a:path h="721361" w="4398653">
                  <a:moveTo>
                    <a:pt x="31570" y="0"/>
                  </a:moveTo>
                  <a:lnTo>
                    <a:pt x="4367083" y="0"/>
                  </a:lnTo>
                  <a:cubicBezTo>
                    <a:pt x="4375456" y="0"/>
                    <a:pt x="4383486" y="3326"/>
                    <a:pt x="4389406" y="9247"/>
                  </a:cubicBezTo>
                  <a:cubicBezTo>
                    <a:pt x="4395327" y="15167"/>
                    <a:pt x="4398653" y="23197"/>
                    <a:pt x="4398653" y="31570"/>
                  </a:cubicBezTo>
                  <a:lnTo>
                    <a:pt x="4398653" y="689791"/>
                  </a:lnTo>
                  <a:cubicBezTo>
                    <a:pt x="4398653" y="707227"/>
                    <a:pt x="4384518" y="721361"/>
                    <a:pt x="4367083" y="721361"/>
                  </a:cubicBezTo>
                  <a:lnTo>
                    <a:pt x="31570" y="721361"/>
                  </a:lnTo>
                  <a:cubicBezTo>
                    <a:pt x="14134" y="721361"/>
                    <a:pt x="0" y="707227"/>
                    <a:pt x="0" y="689791"/>
                  </a:cubicBezTo>
                  <a:lnTo>
                    <a:pt x="0" y="31570"/>
                  </a:lnTo>
                  <a:cubicBezTo>
                    <a:pt x="0" y="14134"/>
                    <a:pt x="14134" y="0"/>
                    <a:pt x="31570" y="0"/>
                  </a:cubicBezTo>
                  <a:close/>
                </a:path>
              </a:pathLst>
            </a:custGeom>
            <a:solidFill>
              <a:srgbClr val="96B2C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47625"/>
              <a:ext cx="4398653" cy="673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27515" y="9051713"/>
            <a:ext cx="8829713" cy="34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5"/>
              </a:lnSpc>
              <a:spcBef>
                <a:spcPct val="0"/>
              </a:spcBef>
            </a:pPr>
            <a:r>
              <a:rPr lang="en-US" sz="2532" spc="-14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Integraciones fiscales definitivas y carga masiva de productos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1530" y="8218920"/>
            <a:ext cx="1790740" cy="388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1"/>
              </a:lnSpc>
              <a:spcBef>
                <a:spcPct val="0"/>
              </a:spcBef>
            </a:pPr>
            <a:r>
              <a:rPr lang="en-US" b="true" sz="2760" spc="-162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Pendientes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84477" y="-8545988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81733" y="5029251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8"/>
                </a:lnTo>
                <a:lnTo>
                  <a:pt x="0" y="13575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92990" y="1370105"/>
            <a:ext cx="6137206" cy="6446966"/>
            <a:chOff x="0" y="0"/>
            <a:chExt cx="2158464" cy="22674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8464" cy="2267407"/>
            </a:xfrm>
            <a:custGeom>
              <a:avLst/>
              <a:gdLst/>
              <a:ahLst/>
              <a:cxnLst/>
              <a:rect r="r" b="b" t="t" l="l"/>
              <a:pathLst>
                <a:path h="2267407" w="2158464">
                  <a:moveTo>
                    <a:pt x="64335" y="0"/>
                  </a:moveTo>
                  <a:lnTo>
                    <a:pt x="2094129" y="0"/>
                  </a:lnTo>
                  <a:cubicBezTo>
                    <a:pt x="2111192" y="0"/>
                    <a:pt x="2127556" y="6778"/>
                    <a:pt x="2139621" y="18843"/>
                  </a:cubicBezTo>
                  <a:cubicBezTo>
                    <a:pt x="2151686" y="30908"/>
                    <a:pt x="2158464" y="47272"/>
                    <a:pt x="2158464" y="64335"/>
                  </a:cubicBezTo>
                  <a:lnTo>
                    <a:pt x="2158464" y="2203072"/>
                  </a:lnTo>
                  <a:cubicBezTo>
                    <a:pt x="2158464" y="2238603"/>
                    <a:pt x="2129660" y="2267407"/>
                    <a:pt x="2094129" y="2267407"/>
                  </a:cubicBezTo>
                  <a:lnTo>
                    <a:pt x="64335" y="2267407"/>
                  </a:lnTo>
                  <a:cubicBezTo>
                    <a:pt x="47272" y="2267407"/>
                    <a:pt x="30908" y="2260629"/>
                    <a:pt x="18843" y="2248564"/>
                  </a:cubicBezTo>
                  <a:cubicBezTo>
                    <a:pt x="6778" y="2236499"/>
                    <a:pt x="0" y="2220135"/>
                    <a:pt x="0" y="2203072"/>
                  </a:cubicBezTo>
                  <a:lnTo>
                    <a:pt x="0" y="64335"/>
                  </a:lnTo>
                  <a:cubicBezTo>
                    <a:pt x="0" y="28804"/>
                    <a:pt x="28804" y="0"/>
                    <a:pt x="64335" y="0"/>
                  </a:cubicBezTo>
                  <a:close/>
                </a:path>
              </a:pathLst>
            </a:custGeom>
            <a:solidFill>
              <a:srgbClr val="95BFD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2158464" cy="2219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92990" y="8038424"/>
            <a:ext cx="12506782" cy="2051062"/>
            <a:chOff x="0" y="0"/>
            <a:chExt cx="4398653" cy="7213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98653" cy="721361"/>
            </a:xfrm>
            <a:custGeom>
              <a:avLst/>
              <a:gdLst/>
              <a:ahLst/>
              <a:cxnLst/>
              <a:rect r="r" b="b" t="t" l="l"/>
              <a:pathLst>
                <a:path h="721361" w="4398653">
                  <a:moveTo>
                    <a:pt x="31570" y="0"/>
                  </a:moveTo>
                  <a:lnTo>
                    <a:pt x="4367083" y="0"/>
                  </a:lnTo>
                  <a:cubicBezTo>
                    <a:pt x="4375456" y="0"/>
                    <a:pt x="4383486" y="3326"/>
                    <a:pt x="4389406" y="9247"/>
                  </a:cubicBezTo>
                  <a:cubicBezTo>
                    <a:pt x="4395327" y="15167"/>
                    <a:pt x="4398653" y="23197"/>
                    <a:pt x="4398653" y="31570"/>
                  </a:cubicBezTo>
                  <a:lnTo>
                    <a:pt x="4398653" y="689791"/>
                  </a:lnTo>
                  <a:cubicBezTo>
                    <a:pt x="4398653" y="707227"/>
                    <a:pt x="4384518" y="721361"/>
                    <a:pt x="4367083" y="721361"/>
                  </a:cubicBezTo>
                  <a:lnTo>
                    <a:pt x="31570" y="721361"/>
                  </a:lnTo>
                  <a:cubicBezTo>
                    <a:pt x="14134" y="721361"/>
                    <a:pt x="0" y="707227"/>
                    <a:pt x="0" y="689791"/>
                  </a:cubicBezTo>
                  <a:lnTo>
                    <a:pt x="0" y="31570"/>
                  </a:lnTo>
                  <a:cubicBezTo>
                    <a:pt x="0" y="14134"/>
                    <a:pt x="14134" y="0"/>
                    <a:pt x="31570" y="0"/>
                  </a:cubicBezTo>
                  <a:close/>
                </a:path>
              </a:pathLst>
            </a:custGeom>
            <a:solidFill>
              <a:srgbClr val="96B2C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4398653" cy="673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992847" y="1740689"/>
            <a:ext cx="10727466" cy="5705799"/>
          </a:xfrm>
          <a:custGeom>
            <a:avLst/>
            <a:gdLst/>
            <a:ahLst/>
            <a:cxnLst/>
            <a:rect r="r" b="b" t="t" l="l"/>
            <a:pathLst>
              <a:path h="5705799" w="10727466">
                <a:moveTo>
                  <a:pt x="0" y="0"/>
                </a:moveTo>
                <a:lnTo>
                  <a:pt x="10727466" y="0"/>
                </a:lnTo>
                <a:lnTo>
                  <a:pt x="10727466" y="5705798"/>
                </a:lnTo>
                <a:lnTo>
                  <a:pt x="0" y="57057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92990" y="373009"/>
            <a:ext cx="9024812" cy="793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35"/>
              </a:lnSpc>
              <a:spcBef>
                <a:spcPct val="0"/>
              </a:spcBef>
            </a:pPr>
            <a:r>
              <a:rPr lang="en-US" b="true" sz="5588" spc="-329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AVANCE MODULO SAP LITE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7515" y="1602626"/>
            <a:ext cx="4766199" cy="388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1"/>
              </a:lnSpc>
              <a:spcBef>
                <a:spcPct val="0"/>
              </a:spcBef>
            </a:pPr>
            <a:r>
              <a:rPr lang="en-US" b="true" sz="2760" spc="-162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Funcionalidades desarrolladas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1420" y="2429089"/>
            <a:ext cx="5960345" cy="4600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987" indent="-241493" lvl="1">
              <a:lnSpc>
                <a:spcPts val="2416"/>
              </a:lnSpc>
              <a:buFont typeface="Arial"/>
              <a:buChar char="•"/>
            </a:pPr>
            <a:r>
              <a:rPr lang="en-US" sz="2237" spc="-131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Gestión de proveedores e importación masiva desde Excel y CSV.</a:t>
            </a:r>
          </a:p>
          <a:p>
            <a:pPr algn="l" marL="482987" indent="-241493" lvl="1">
              <a:lnSpc>
                <a:spcPts val="2416"/>
              </a:lnSpc>
              <a:buFont typeface="Arial"/>
              <a:buChar char="•"/>
            </a:pPr>
            <a:r>
              <a:rPr lang="en-US" sz="2237" spc="-131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Administración de facturas de compra y notas de crédito.</a:t>
            </a:r>
          </a:p>
          <a:p>
            <a:pPr algn="l" marL="482987" indent="-241493" lvl="1">
              <a:lnSpc>
                <a:spcPts val="2416"/>
              </a:lnSpc>
              <a:buFont typeface="Arial"/>
              <a:buChar char="•"/>
            </a:pPr>
            <a:r>
              <a:rPr lang="en-US" sz="2237" spc="-131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Importación de cartolas bancarias Itaú y liquidaciones Transbank.</a:t>
            </a:r>
          </a:p>
          <a:p>
            <a:pPr algn="l" marL="482987" indent="-241493" lvl="1">
              <a:lnSpc>
                <a:spcPts val="2416"/>
              </a:lnSpc>
              <a:buFont typeface="Arial"/>
              <a:buChar char="•"/>
            </a:pPr>
            <a:r>
              <a:rPr lang="en-US" sz="2237" spc="-131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Co</a:t>
            </a:r>
            <a:r>
              <a:rPr lang="en-US" sz="2237" spc="-131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nsulta de Mercado Pago e integración parcial con BSale.</a:t>
            </a:r>
          </a:p>
          <a:p>
            <a:pPr algn="l" marL="482987" indent="-241493" lvl="1">
              <a:lnSpc>
                <a:spcPts val="2416"/>
              </a:lnSpc>
              <a:buFont typeface="Arial"/>
              <a:buChar char="•"/>
            </a:pPr>
            <a:r>
              <a:rPr lang="en-US" sz="2237" spc="-131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Plan de Cuentas para consulta y asociación contable.</a:t>
            </a:r>
          </a:p>
          <a:p>
            <a:pPr algn="l" marL="482987" indent="-241493" lvl="1">
              <a:lnSpc>
                <a:spcPts val="2416"/>
              </a:lnSpc>
              <a:buFont typeface="Arial"/>
              <a:buChar char="•"/>
            </a:pPr>
            <a:r>
              <a:rPr lang="en-US" sz="2237" spc="-131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Módulo de Arriendos desar</a:t>
            </a:r>
            <a:r>
              <a:rPr lang="en-US" sz="2237" spc="-131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rollado.</a:t>
            </a:r>
          </a:p>
          <a:p>
            <a:pPr algn="l" marL="482987" indent="-241493" lvl="1">
              <a:lnSpc>
                <a:spcPts val="2416"/>
              </a:lnSpc>
              <a:buFont typeface="Arial"/>
              <a:buChar char="•"/>
            </a:pPr>
            <a:r>
              <a:rPr lang="en-US" sz="2237" spc="-131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Módulo de Pagos de Servicios con gestión de tipos, servicios y cobros.</a:t>
            </a:r>
          </a:p>
          <a:p>
            <a:pPr algn="l" marL="482987" indent="-241493" lvl="1">
              <a:lnSpc>
                <a:spcPts val="2416"/>
              </a:lnSpc>
              <a:buFont typeface="Arial"/>
              <a:buChar char="•"/>
            </a:pPr>
            <a:r>
              <a:rPr lang="en-US" sz="2237" spc="-131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Avances en reportes de gastos.</a:t>
            </a:r>
          </a:p>
          <a:p>
            <a:pPr algn="l" marL="0" indent="0" lvl="0">
              <a:lnSpc>
                <a:spcPts val="2416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27515" y="8845359"/>
            <a:ext cx="10205302" cy="694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5"/>
              </a:lnSpc>
              <a:spcBef>
                <a:spcPct val="0"/>
              </a:spcBef>
            </a:pPr>
            <a:r>
              <a:rPr lang="en-US" sz="2532" spc="-14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Conciliación bancaria automática, pruebas integrales de los flujos y finalización de funcionalidades administrativas pendientes.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1530" y="8218920"/>
            <a:ext cx="1790740" cy="388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1"/>
              </a:lnSpc>
              <a:spcBef>
                <a:spcPct val="0"/>
              </a:spcBef>
            </a:pPr>
            <a:r>
              <a:rPr lang="en-US" b="true" sz="2760" spc="-162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Pendientes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84477" y="-8545988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81733" y="5029251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8"/>
                </a:lnTo>
                <a:lnTo>
                  <a:pt x="0" y="13575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92990" y="1370105"/>
            <a:ext cx="6137206" cy="6446966"/>
            <a:chOff x="0" y="0"/>
            <a:chExt cx="2158464" cy="22674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8464" cy="2267407"/>
            </a:xfrm>
            <a:custGeom>
              <a:avLst/>
              <a:gdLst/>
              <a:ahLst/>
              <a:cxnLst/>
              <a:rect r="r" b="b" t="t" l="l"/>
              <a:pathLst>
                <a:path h="2267407" w="2158464">
                  <a:moveTo>
                    <a:pt x="64335" y="0"/>
                  </a:moveTo>
                  <a:lnTo>
                    <a:pt x="2094129" y="0"/>
                  </a:lnTo>
                  <a:cubicBezTo>
                    <a:pt x="2111192" y="0"/>
                    <a:pt x="2127556" y="6778"/>
                    <a:pt x="2139621" y="18843"/>
                  </a:cubicBezTo>
                  <a:cubicBezTo>
                    <a:pt x="2151686" y="30908"/>
                    <a:pt x="2158464" y="47272"/>
                    <a:pt x="2158464" y="64335"/>
                  </a:cubicBezTo>
                  <a:lnTo>
                    <a:pt x="2158464" y="2203072"/>
                  </a:lnTo>
                  <a:cubicBezTo>
                    <a:pt x="2158464" y="2238603"/>
                    <a:pt x="2129660" y="2267407"/>
                    <a:pt x="2094129" y="2267407"/>
                  </a:cubicBezTo>
                  <a:lnTo>
                    <a:pt x="64335" y="2267407"/>
                  </a:lnTo>
                  <a:cubicBezTo>
                    <a:pt x="47272" y="2267407"/>
                    <a:pt x="30908" y="2260629"/>
                    <a:pt x="18843" y="2248564"/>
                  </a:cubicBezTo>
                  <a:cubicBezTo>
                    <a:pt x="6778" y="2236499"/>
                    <a:pt x="0" y="2220135"/>
                    <a:pt x="0" y="2203072"/>
                  </a:cubicBezTo>
                  <a:lnTo>
                    <a:pt x="0" y="64335"/>
                  </a:lnTo>
                  <a:cubicBezTo>
                    <a:pt x="0" y="28804"/>
                    <a:pt x="28804" y="0"/>
                    <a:pt x="64335" y="0"/>
                  </a:cubicBezTo>
                  <a:close/>
                </a:path>
              </a:pathLst>
            </a:custGeom>
            <a:solidFill>
              <a:srgbClr val="95BFD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2158464" cy="2219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92990" y="8038424"/>
            <a:ext cx="12506782" cy="2051062"/>
            <a:chOff x="0" y="0"/>
            <a:chExt cx="4398653" cy="7213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98653" cy="721361"/>
            </a:xfrm>
            <a:custGeom>
              <a:avLst/>
              <a:gdLst/>
              <a:ahLst/>
              <a:cxnLst/>
              <a:rect r="r" b="b" t="t" l="l"/>
              <a:pathLst>
                <a:path h="721361" w="4398653">
                  <a:moveTo>
                    <a:pt x="31570" y="0"/>
                  </a:moveTo>
                  <a:lnTo>
                    <a:pt x="4367083" y="0"/>
                  </a:lnTo>
                  <a:cubicBezTo>
                    <a:pt x="4375456" y="0"/>
                    <a:pt x="4383486" y="3326"/>
                    <a:pt x="4389406" y="9247"/>
                  </a:cubicBezTo>
                  <a:cubicBezTo>
                    <a:pt x="4395327" y="15167"/>
                    <a:pt x="4398653" y="23197"/>
                    <a:pt x="4398653" y="31570"/>
                  </a:cubicBezTo>
                  <a:lnTo>
                    <a:pt x="4398653" y="689791"/>
                  </a:lnTo>
                  <a:cubicBezTo>
                    <a:pt x="4398653" y="707227"/>
                    <a:pt x="4384518" y="721361"/>
                    <a:pt x="4367083" y="721361"/>
                  </a:cubicBezTo>
                  <a:lnTo>
                    <a:pt x="31570" y="721361"/>
                  </a:lnTo>
                  <a:cubicBezTo>
                    <a:pt x="14134" y="721361"/>
                    <a:pt x="0" y="707227"/>
                    <a:pt x="0" y="689791"/>
                  </a:cubicBezTo>
                  <a:lnTo>
                    <a:pt x="0" y="31570"/>
                  </a:lnTo>
                  <a:cubicBezTo>
                    <a:pt x="0" y="14134"/>
                    <a:pt x="14134" y="0"/>
                    <a:pt x="31570" y="0"/>
                  </a:cubicBezTo>
                  <a:close/>
                </a:path>
              </a:pathLst>
            </a:custGeom>
            <a:solidFill>
              <a:srgbClr val="96B2C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4398653" cy="673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407380" y="1166183"/>
            <a:ext cx="7459948" cy="6374242"/>
          </a:xfrm>
          <a:custGeom>
            <a:avLst/>
            <a:gdLst/>
            <a:ahLst/>
            <a:cxnLst/>
            <a:rect r="r" b="b" t="t" l="l"/>
            <a:pathLst>
              <a:path h="6374242" w="7459948">
                <a:moveTo>
                  <a:pt x="0" y="0"/>
                </a:moveTo>
                <a:lnTo>
                  <a:pt x="7459947" y="0"/>
                </a:lnTo>
                <a:lnTo>
                  <a:pt x="7459947" y="6374242"/>
                </a:lnTo>
                <a:lnTo>
                  <a:pt x="0" y="63742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991" t="-5850" r="-38993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92990" y="373009"/>
            <a:ext cx="9413565" cy="793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35"/>
              </a:lnSpc>
              <a:spcBef>
                <a:spcPct val="0"/>
              </a:spcBef>
            </a:pPr>
            <a:r>
              <a:rPr lang="en-US" b="true" sz="5588" spc="-329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AVANCE MODULO KUENTAS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7515" y="1602626"/>
            <a:ext cx="4766199" cy="388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1"/>
              </a:lnSpc>
              <a:spcBef>
                <a:spcPct val="0"/>
              </a:spcBef>
            </a:pPr>
            <a:r>
              <a:rPr lang="en-US" b="true" sz="2760" spc="-162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Funcionalidades desarrolladas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2990" y="2269401"/>
            <a:ext cx="5960345" cy="55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987" indent="-241493" lvl="1">
              <a:lnSpc>
                <a:spcPts val="2416"/>
              </a:lnSpc>
              <a:buFont typeface="Arial"/>
              <a:buChar char="•"/>
            </a:pPr>
            <a:r>
              <a:rPr lang="en-US" sz="2237" spc="-131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Plan de Cuentas jerárquico por empresa, con cuentas protegidas.</a:t>
            </a:r>
          </a:p>
          <a:p>
            <a:pPr algn="l">
              <a:lnSpc>
                <a:spcPts val="2416"/>
              </a:lnSpc>
            </a:pPr>
          </a:p>
          <a:p>
            <a:pPr algn="l" marL="482987" indent="-241493" lvl="1">
              <a:lnSpc>
                <a:spcPts val="2416"/>
              </a:lnSpc>
              <a:buFont typeface="Arial"/>
              <a:buChar char="•"/>
            </a:pPr>
            <a:r>
              <a:rPr lang="en-US" sz="2237" spc="-131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Registro de comprobantes contables con validación de partida doble.</a:t>
            </a:r>
          </a:p>
          <a:p>
            <a:pPr algn="l">
              <a:lnSpc>
                <a:spcPts val="2416"/>
              </a:lnSpc>
            </a:pPr>
          </a:p>
          <a:p>
            <a:pPr algn="l" marL="482987" indent="-241493" lvl="1">
              <a:lnSpc>
                <a:spcPts val="2416"/>
              </a:lnSpc>
              <a:buFont typeface="Arial"/>
              <a:buChar char="•"/>
            </a:pPr>
            <a:r>
              <a:rPr lang="en-US" sz="2237" spc="-131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Importación masiva de comprobantes y migración de saldos.</a:t>
            </a:r>
          </a:p>
          <a:p>
            <a:pPr algn="l">
              <a:lnSpc>
                <a:spcPts val="2416"/>
              </a:lnSpc>
            </a:pPr>
          </a:p>
          <a:p>
            <a:pPr algn="l" marL="482987" indent="-241493" lvl="1">
              <a:lnSpc>
                <a:spcPts val="2416"/>
              </a:lnSpc>
              <a:buFont typeface="Arial"/>
              <a:buChar char="•"/>
            </a:pPr>
            <a:r>
              <a:rPr lang="en-US" sz="2237" spc="-131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Ge</a:t>
            </a:r>
            <a:r>
              <a:rPr lang="en-US" sz="2237" spc="-131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neración de Libro Diario, Libro Mayor y balances contables.</a:t>
            </a:r>
          </a:p>
          <a:p>
            <a:pPr algn="l">
              <a:lnSpc>
                <a:spcPts val="2416"/>
              </a:lnSpc>
            </a:pPr>
          </a:p>
          <a:p>
            <a:pPr algn="l" marL="482987" indent="-241493" lvl="1">
              <a:lnSpc>
                <a:spcPts val="2416"/>
              </a:lnSpc>
              <a:buFont typeface="Arial"/>
              <a:buChar char="•"/>
            </a:pPr>
            <a:r>
              <a:rPr lang="en-US" sz="2237" spc="-131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Ges</a:t>
            </a:r>
            <a:r>
              <a:rPr lang="en-US" sz="2237" spc="-131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tión de clientes, proveedores y centros de costo.</a:t>
            </a:r>
          </a:p>
          <a:p>
            <a:pPr algn="l">
              <a:lnSpc>
                <a:spcPts val="2416"/>
              </a:lnSpc>
            </a:pPr>
          </a:p>
          <a:p>
            <a:pPr algn="l" marL="482987" indent="-241493" lvl="1">
              <a:lnSpc>
                <a:spcPts val="2416"/>
              </a:lnSpc>
              <a:buFont typeface="Arial"/>
              <a:buChar char="•"/>
            </a:pPr>
            <a:r>
              <a:rPr lang="en-US" sz="2237" spc="-131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Pruebas automatizadas y despliegue mediante Google Cloud Run.</a:t>
            </a:r>
          </a:p>
          <a:p>
            <a:pPr algn="l" marL="0" indent="0" lvl="0">
              <a:lnSpc>
                <a:spcPts val="2416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27515" y="8845359"/>
            <a:ext cx="10205302" cy="694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5"/>
              </a:lnSpc>
              <a:spcBef>
                <a:spcPct val="0"/>
              </a:spcBef>
            </a:pPr>
            <a:r>
              <a:rPr lang="en-US" sz="2532" spc="-14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Conexión real con el SII, remuneraciones y ampliación de cálculos tributarios.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1530" y="8218920"/>
            <a:ext cx="1790740" cy="388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1"/>
              </a:lnSpc>
              <a:spcBef>
                <a:spcPct val="0"/>
              </a:spcBef>
            </a:pPr>
            <a:r>
              <a:rPr lang="en-US" b="true" sz="2760" spc="-162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Pendientes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94765" y="-8431739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632336" y="-6733910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450032" y="4423203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82020" y="5711960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8"/>
                </a:lnTo>
                <a:lnTo>
                  <a:pt x="0" y="13575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47400" y="0"/>
            <a:ext cx="2140600" cy="1947946"/>
          </a:xfrm>
          <a:custGeom>
            <a:avLst/>
            <a:gdLst/>
            <a:ahLst/>
            <a:cxnLst/>
            <a:rect r="r" b="b" t="t" l="l"/>
            <a:pathLst>
              <a:path h="1947946" w="2140600">
                <a:moveTo>
                  <a:pt x="0" y="0"/>
                </a:moveTo>
                <a:lnTo>
                  <a:pt x="2140600" y="0"/>
                </a:lnTo>
                <a:lnTo>
                  <a:pt x="2140600" y="1947946"/>
                </a:lnTo>
                <a:lnTo>
                  <a:pt x="0" y="19479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543426" y="485106"/>
            <a:ext cx="3201148" cy="117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33"/>
              </a:lnSpc>
              <a:spcBef>
                <a:spcPct val="0"/>
              </a:spcBef>
            </a:pPr>
            <a:r>
              <a:rPr lang="en-US" b="true" sz="8271" spc="-488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DEMO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0" y="54727"/>
            <a:ext cx="2140600" cy="1947946"/>
          </a:xfrm>
          <a:custGeom>
            <a:avLst/>
            <a:gdLst/>
            <a:ahLst/>
            <a:cxnLst/>
            <a:rect r="r" b="b" t="t" l="l"/>
            <a:pathLst>
              <a:path h="1947946" w="2140600">
                <a:moveTo>
                  <a:pt x="2140600" y="0"/>
                </a:moveTo>
                <a:lnTo>
                  <a:pt x="0" y="0"/>
                </a:lnTo>
                <a:lnTo>
                  <a:pt x="0" y="1947946"/>
                </a:lnTo>
                <a:lnTo>
                  <a:pt x="2140600" y="1947946"/>
                </a:lnTo>
                <a:lnTo>
                  <a:pt x="21406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5837" y="757775"/>
            <a:ext cx="16736327" cy="8771450"/>
            <a:chOff x="0" y="0"/>
            <a:chExt cx="4407921" cy="23101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07921" cy="2310176"/>
            </a:xfrm>
            <a:custGeom>
              <a:avLst/>
              <a:gdLst/>
              <a:ahLst/>
              <a:cxnLst/>
              <a:rect r="r" b="b" t="t" l="l"/>
              <a:pathLst>
                <a:path h="2310176" w="4407921">
                  <a:moveTo>
                    <a:pt x="16190" y="0"/>
                  </a:moveTo>
                  <a:lnTo>
                    <a:pt x="4391731" y="0"/>
                  </a:lnTo>
                  <a:cubicBezTo>
                    <a:pt x="4400672" y="0"/>
                    <a:pt x="4407921" y="7249"/>
                    <a:pt x="4407921" y="16190"/>
                  </a:cubicBezTo>
                  <a:lnTo>
                    <a:pt x="4407921" y="2293986"/>
                  </a:lnTo>
                  <a:cubicBezTo>
                    <a:pt x="4407921" y="2302927"/>
                    <a:pt x="4400672" y="2310176"/>
                    <a:pt x="4391731" y="2310176"/>
                  </a:cubicBezTo>
                  <a:lnTo>
                    <a:pt x="16190" y="2310176"/>
                  </a:lnTo>
                  <a:cubicBezTo>
                    <a:pt x="7249" y="2310176"/>
                    <a:pt x="0" y="2302927"/>
                    <a:pt x="0" y="2293986"/>
                  </a:cubicBezTo>
                  <a:lnTo>
                    <a:pt x="0" y="16190"/>
                  </a:lnTo>
                  <a:cubicBezTo>
                    <a:pt x="0" y="7249"/>
                    <a:pt x="7249" y="0"/>
                    <a:pt x="16190" y="0"/>
                  </a:cubicBezTo>
                  <a:close/>
                </a:path>
              </a:pathLst>
            </a:custGeom>
            <a:solidFill>
              <a:srgbClr val="BBD6E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07921" cy="2348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080438" y="2948687"/>
            <a:ext cx="3911512" cy="4161472"/>
            <a:chOff x="0" y="0"/>
            <a:chExt cx="935533" cy="9953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35533" cy="995317"/>
            </a:xfrm>
            <a:custGeom>
              <a:avLst/>
              <a:gdLst/>
              <a:ahLst/>
              <a:cxnLst/>
              <a:rect r="r" b="b" t="t" l="l"/>
              <a:pathLst>
                <a:path h="995317" w="935533">
                  <a:moveTo>
                    <a:pt x="47502" y="0"/>
                  </a:moveTo>
                  <a:lnTo>
                    <a:pt x="888030" y="0"/>
                  </a:lnTo>
                  <a:cubicBezTo>
                    <a:pt x="914265" y="0"/>
                    <a:pt x="935533" y="21268"/>
                    <a:pt x="935533" y="47502"/>
                  </a:cubicBezTo>
                  <a:lnTo>
                    <a:pt x="935533" y="947814"/>
                  </a:lnTo>
                  <a:cubicBezTo>
                    <a:pt x="935533" y="960413"/>
                    <a:pt x="930528" y="972495"/>
                    <a:pt x="921620" y="981404"/>
                  </a:cubicBezTo>
                  <a:cubicBezTo>
                    <a:pt x="912711" y="990312"/>
                    <a:pt x="900629" y="995317"/>
                    <a:pt x="888030" y="995317"/>
                  </a:cubicBezTo>
                  <a:lnTo>
                    <a:pt x="47502" y="995317"/>
                  </a:lnTo>
                  <a:cubicBezTo>
                    <a:pt x="34904" y="995317"/>
                    <a:pt x="22822" y="990312"/>
                    <a:pt x="13913" y="981404"/>
                  </a:cubicBezTo>
                  <a:cubicBezTo>
                    <a:pt x="5005" y="972495"/>
                    <a:pt x="0" y="960413"/>
                    <a:pt x="0" y="947814"/>
                  </a:cubicBezTo>
                  <a:lnTo>
                    <a:pt x="0" y="47502"/>
                  </a:lnTo>
                  <a:cubicBezTo>
                    <a:pt x="0" y="34904"/>
                    <a:pt x="5005" y="22822"/>
                    <a:pt x="13913" y="13913"/>
                  </a:cubicBezTo>
                  <a:cubicBezTo>
                    <a:pt x="22822" y="5005"/>
                    <a:pt x="34904" y="0"/>
                    <a:pt x="47502" y="0"/>
                  </a:cubicBezTo>
                  <a:close/>
                </a:path>
              </a:pathLst>
            </a:custGeom>
            <a:solidFill>
              <a:srgbClr val="3885AB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935533" cy="995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FBF6F1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Problematica</a:t>
              </a:r>
            </a:p>
            <a:p>
              <a:pPr algn="ctr">
                <a:lnSpc>
                  <a:spcPts val="2879"/>
                </a:lnSpc>
              </a:pP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BF6F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 identificaron procesos que aún requieren digitación, revisión, cruce y validación manual de información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BF6F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proveniente de distintas fuentes.</a:t>
              </a:r>
            </a:p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659567" y="3194330"/>
            <a:ext cx="753254" cy="753254"/>
          </a:xfrm>
          <a:custGeom>
            <a:avLst/>
            <a:gdLst/>
            <a:ahLst/>
            <a:cxnLst/>
            <a:rect r="r" b="b" t="t" l="l"/>
            <a:pathLst>
              <a:path h="753254" w="753254">
                <a:moveTo>
                  <a:pt x="0" y="0"/>
                </a:moveTo>
                <a:lnTo>
                  <a:pt x="753255" y="0"/>
                </a:lnTo>
                <a:lnTo>
                  <a:pt x="753255" y="753254"/>
                </a:lnTo>
                <a:lnTo>
                  <a:pt x="0" y="75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188244" y="2948687"/>
            <a:ext cx="3911512" cy="4161472"/>
            <a:chOff x="0" y="0"/>
            <a:chExt cx="935533" cy="9953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5533" cy="995317"/>
            </a:xfrm>
            <a:custGeom>
              <a:avLst/>
              <a:gdLst/>
              <a:ahLst/>
              <a:cxnLst/>
              <a:rect r="r" b="b" t="t" l="l"/>
              <a:pathLst>
                <a:path h="995317" w="935533">
                  <a:moveTo>
                    <a:pt x="47502" y="0"/>
                  </a:moveTo>
                  <a:lnTo>
                    <a:pt x="888030" y="0"/>
                  </a:lnTo>
                  <a:cubicBezTo>
                    <a:pt x="914265" y="0"/>
                    <a:pt x="935533" y="21268"/>
                    <a:pt x="935533" y="47502"/>
                  </a:cubicBezTo>
                  <a:lnTo>
                    <a:pt x="935533" y="947814"/>
                  </a:lnTo>
                  <a:cubicBezTo>
                    <a:pt x="935533" y="960413"/>
                    <a:pt x="930528" y="972495"/>
                    <a:pt x="921620" y="981404"/>
                  </a:cubicBezTo>
                  <a:cubicBezTo>
                    <a:pt x="912711" y="990312"/>
                    <a:pt x="900629" y="995317"/>
                    <a:pt x="888030" y="995317"/>
                  </a:cubicBezTo>
                  <a:lnTo>
                    <a:pt x="47502" y="995317"/>
                  </a:lnTo>
                  <a:cubicBezTo>
                    <a:pt x="34904" y="995317"/>
                    <a:pt x="22822" y="990312"/>
                    <a:pt x="13913" y="981404"/>
                  </a:cubicBezTo>
                  <a:cubicBezTo>
                    <a:pt x="5005" y="972495"/>
                    <a:pt x="0" y="960413"/>
                    <a:pt x="0" y="947814"/>
                  </a:cubicBezTo>
                  <a:lnTo>
                    <a:pt x="0" y="47502"/>
                  </a:lnTo>
                  <a:cubicBezTo>
                    <a:pt x="0" y="34904"/>
                    <a:pt x="5005" y="22822"/>
                    <a:pt x="13913" y="13913"/>
                  </a:cubicBezTo>
                  <a:cubicBezTo>
                    <a:pt x="22822" y="5005"/>
                    <a:pt x="34904" y="0"/>
                    <a:pt x="47502" y="0"/>
                  </a:cubicBezTo>
                  <a:close/>
                </a:path>
              </a:pathLst>
            </a:custGeom>
            <a:solidFill>
              <a:srgbClr val="3885A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935533" cy="995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FBF6F1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Propuesta</a:t>
              </a:r>
            </a:p>
            <a:p>
              <a:pPr algn="ctr">
                <a:lnSpc>
                  <a:spcPts val="2879"/>
                </a:lnSpc>
              </a:pP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BF6F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PittySoft busca abordar estas necesidades mediante una solución modular compuesta por </a:t>
              </a:r>
              <a:r>
                <a:rPr lang="en-US" sz="1900" b="true">
                  <a:solidFill>
                    <a:srgbClr val="FBF6F1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POS, SAP-lite y Kuentas,</a:t>
              </a:r>
              <a:r>
                <a:rPr lang="en-US" sz="1900">
                  <a:solidFill>
                    <a:srgbClr val="FBF6F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dentro del alcance definido para el Proyecto APT.</a:t>
              </a:r>
            </a:p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99906" y="2948687"/>
            <a:ext cx="3911512" cy="4161472"/>
            <a:chOff x="0" y="0"/>
            <a:chExt cx="935533" cy="99531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35533" cy="995317"/>
            </a:xfrm>
            <a:custGeom>
              <a:avLst/>
              <a:gdLst/>
              <a:ahLst/>
              <a:cxnLst/>
              <a:rect r="r" b="b" t="t" l="l"/>
              <a:pathLst>
                <a:path h="995317" w="935533">
                  <a:moveTo>
                    <a:pt x="47502" y="0"/>
                  </a:moveTo>
                  <a:lnTo>
                    <a:pt x="888030" y="0"/>
                  </a:lnTo>
                  <a:cubicBezTo>
                    <a:pt x="914265" y="0"/>
                    <a:pt x="935533" y="21268"/>
                    <a:pt x="935533" y="47502"/>
                  </a:cubicBezTo>
                  <a:lnTo>
                    <a:pt x="935533" y="947814"/>
                  </a:lnTo>
                  <a:cubicBezTo>
                    <a:pt x="935533" y="960413"/>
                    <a:pt x="930528" y="972495"/>
                    <a:pt x="921620" y="981404"/>
                  </a:cubicBezTo>
                  <a:cubicBezTo>
                    <a:pt x="912711" y="990312"/>
                    <a:pt x="900629" y="995317"/>
                    <a:pt x="888030" y="995317"/>
                  </a:cubicBezTo>
                  <a:lnTo>
                    <a:pt x="47502" y="995317"/>
                  </a:lnTo>
                  <a:cubicBezTo>
                    <a:pt x="34904" y="995317"/>
                    <a:pt x="22822" y="990312"/>
                    <a:pt x="13913" y="981404"/>
                  </a:cubicBezTo>
                  <a:cubicBezTo>
                    <a:pt x="5005" y="972495"/>
                    <a:pt x="0" y="960413"/>
                    <a:pt x="0" y="947814"/>
                  </a:cubicBezTo>
                  <a:lnTo>
                    <a:pt x="0" y="47502"/>
                  </a:lnTo>
                  <a:cubicBezTo>
                    <a:pt x="0" y="34904"/>
                    <a:pt x="5005" y="22822"/>
                    <a:pt x="13913" y="13913"/>
                  </a:cubicBezTo>
                  <a:cubicBezTo>
                    <a:pt x="22822" y="5005"/>
                    <a:pt x="34904" y="0"/>
                    <a:pt x="47502" y="0"/>
                  </a:cubicBezTo>
                  <a:close/>
                </a:path>
              </a:pathLst>
            </a:custGeom>
            <a:solidFill>
              <a:srgbClr val="3885A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35533" cy="995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FBF6F1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Resultado</a:t>
              </a:r>
            </a:p>
            <a:p>
              <a:pPr algn="ctr">
                <a:lnSpc>
                  <a:spcPts val="2879"/>
                </a:lnSpc>
              </a:pPr>
            </a:p>
            <a:p>
              <a:pPr algn="ctr" marL="0" indent="0" lvl="0">
                <a:lnSpc>
                  <a:spcPts val="2280"/>
                </a:lnSpc>
                <a:spcBef>
                  <a:spcPct val="0"/>
                </a:spcBef>
              </a:pPr>
              <a:r>
                <a:rPr lang="en-US" sz="1900">
                  <a:solidFill>
                    <a:srgbClr val="FBF6F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Desarrollar, probar e integrar los componentes definidos en un entorno de validación, realizando correcciones y mejoras a partir de los resultados obtenidos.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629424" y="3237469"/>
            <a:ext cx="1029152" cy="710115"/>
          </a:xfrm>
          <a:custGeom>
            <a:avLst/>
            <a:gdLst/>
            <a:ahLst/>
            <a:cxnLst/>
            <a:rect r="r" b="b" t="t" l="l"/>
            <a:pathLst>
              <a:path h="710115" w="1029152">
                <a:moveTo>
                  <a:pt x="0" y="0"/>
                </a:moveTo>
                <a:lnTo>
                  <a:pt x="1029152" y="0"/>
                </a:lnTo>
                <a:lnTo>
                  <a:pt x="1029152" y="710115"/>
                </a:lnTo>
                <a:lnTo>
                  <a:pt x="0" y="7101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871531" y="3170037"/>
            <a:ext cx="844978" cy="844978"/>
          </a:xfrm>
          <a:custGeom>
            <a:avLst/>
            <a:gdLst/>
            <a:ahLst/>
            <a:cxnLst/>
            <a:rect r="r" b="b" t="t" l="l"/>
            <a:pathLst>
              <a:path h="844978" w="844978">
                <a:moveTo>
                  <a:pt x="0" y="0"/>
                </a:moveTo>
                <a:lnTo>
                  <a:pt x="844979" y="0"/>
                </a:lnTo>
                <a:lnTo>
                  <a:pt x="844979" y="844979"/>
                </a:lnTo>
                <a:lnTo>
                  <a:pt x="0" y="8449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958686" y="7153143"/>
            <a:ext cx="2340529" cy="1895828"/>
          </a:xfrm>
          <a:custGeom>
            <a:avLst/>
            <a:gdLst/>
            <a:ahLst/>
            <a:cxnLst/>
            <a:rect r="r" b="b" t="t" l="l"/>
            <a:pathLst>
              <a:path h="1895828" w="2340529">
                <a:moveTo>
                  <a:pt x="0" y="0"/>
                </a:moveTo>
                <a:lnTo>
                  <a:pt x="2340528" y="0"/>
                </a:lnTo>
                <a:lnTo>
                  <a:pt x="2340528" y="1895828"/>
                </a:lnTo>
                <a:lnTo>
                  <a:pt x="0" y="18958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684078" y="1641537"/>
            <a:ext cx="6919843" cy="874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69"/>
              </a:lnSpc>
              <a:spcBef>
                <a:spcPct val="0"/>
              </a:spcBef>
            </a:pPr>
            <a:r>
              <a:rPr lang="en-US" b="true" sz="6175" spc="-364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</a:t>
            </a:r>
            <a:r>
              <a:rPr lang="en-US" b="true" sz="6175" spc="-364" strike="noStrike" u="none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ONCLUSIÓN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743475" y="8253977"/>
            <a:ext cx="10801050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arr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ol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 de so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are 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•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el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os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de dato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Pruebas y validación • Gestión de proyectos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84078" y="7561909"/>
            <a:ext cx="6919843" cy="41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5"/>
              </a:lnSpc>
              <a:spcBef>
                <a:spcPct val="0"/>
              </a:spcBef>
            </a:pPr>
            <a:r>
              <a:rPr lang="en-US" b="true" sz="2875" spc="-169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COMPETENCIAS APLICADAS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DAHYBGEKC8k</dc:identifier>
  <dcterms:modified xsi:type="dcterms:W3CDTF">2011-08-01T06:04:30Z</dcterms:modified>
  <cp:revision>1</cp:revision>
  <dc:title>Presentación Proyecto </dc:title>
</cp:coreProperties>
</file>